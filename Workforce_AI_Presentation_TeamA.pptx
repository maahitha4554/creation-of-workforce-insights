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" y="73152"/>
            <a:ext cx="5577840" cy="6711696"/>
          </a:xfrm>
          <a:prstGeom prst="rect">
            <a:avLst/>
          </a:prstGeom>
          <a:solidFill>
            <a:srgbClr val="072B4D"/>
          </a:solidFill>
          <a:ln w="10160">
            <a:solidFill>
              <a:srgbClr val="072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4526280" y="73152"/>
            <a:ext cx="1097280" cy="6711696"/>
          </a:xfrm>
          <a:prstGeom prst="parallelogram">
            <a:avLst/>
          </a:prstGeom>
          <a:solidFill>
            <a:srgbClr val="00688B"/>
          </a:solidFill>
          <a:ln>
            <a:solidFill>
              <a:srgbClr val="0068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50992" y="73152"/>
            <a:ext cx="6464808" cy="6711696"/>
          </a:xfrm>
          <a:prstGeom prst="rect">
            <a:avLst/>
          </a:prstGeom>
          <a:solidFill>
            <a:srgbClr val="E2EFF3"/>
          </a:solidFill>
          <a:ln w="10160">
            <a:solidFill>
              <a:srgbClr val="E2EF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833872" y="201168"/>
            <a:ext cx="2286000" cy="2743200"/>
          </a:xfrm>
          <a:prstGeom prst="rect">
            <a:avLst/>
          </a:prstGeom>
          <a:solidFill>
            <a:srgbClr val="C6E1ED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6400800" y="201168"/>
            <a:ext cx="0" cy="274320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967728" y="201168"/>
            <a:ext cx="0" cy="274320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34656" y="201168"/>
            <a:ext cx="0" cy="274320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833872" y="1508760"/>
            <a:ext cx="228600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10698480" y="365760"/>
            <a:ext cx="1051560" cy="2286000"/>
          </a:xfrm>
          <a:prstGeom prst="rect">
            <a:avLst/>
          </a:prstGeom>
          <a:solidFill>
            <a:srgbClr val="C4E0D1"/>
          </a:solidFill>
          <a:ln w="10160">
            <a:solidFill>
              <a:srgbClr val="C4E0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469880" y="274320"/>
            <a:ext cx="502920" cy="640080"/>
          </a:xfrm>
          <a:prstGeom prst="ellipse">
            <a:avLst/>
          </a:prstGeom>
          <a:solidFill>
            <a:srgbClr val="307E5B"/>
          </a:solidFill>
          <a:ln>
            <a:solidFill>
              <a:srgbClr val="307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25328" y="658368"/>
            <a:ext cx="502920" cy="640080"/>
          </a:xfrm>
          <a:prstGeom prst="ellipse">
            <a:avLst/>
          </a:prstGeom>
          <a:solidFill>
            <a:srgbClr val="307E5B"/>
          </a:solidFill>
          <a:ln>
            <a:solidFill>
              <a:srgbClr val="307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780776" y="1042415"/>
            <a:ext cx="502920" cy="640080"/>
          </a:xfrm>
          <a:prstGeom prst="ellipse">
            <a:avLst/>
          </a:prstGeom>
          <a:solidFill>
            <a:srgbClr val="307E5B"/>
          </a:solidFill>
          <a:ln>
            <a:solidFill>
              <a:srgbClr val="307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469880" y="1426464"/>
            <a:ext cx="502920" cy="640080"/>
          </a:xfrm>
          <a:prstGeom prst="ellipse">
            <a:avLst/>
          </a:prstGeom>
          <a:solidFill>
            <a:srgbClr val="307E5B"/>
          </a:solidFill>
          <a:ln>
            <a:solidFill>
              <a:srgbClr val="307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625328" y="1810512"/>
            <a:ext cx="502920" cy="640080"/>
          </a:xfrm>
          <a:prstGeom prst="ellipse">
            <a:avLst/>
          </a:prstGeom>
          <a:solidFill>
            <a:srgbClr val="307E5B"/>
          </a:solidFill>
          <a:ln>
            <a:solidFill>
              <a:srgbClr val="307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50992" y="3886200"/>
            <a:ext cx="6464808" cy="2697480"/>
          </a:xfrm>
          <a:prstGeom prst="rect">
            <a:avLst/>
          </a:prstGeom>
          <a:solidFill>
            <a:srgbClr val="B18966"/>
          </a:solidFill>
          <a:ln w="10160">
            <a:solidFill>
              <a:srgbClr val="B18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360920" y="1325880"/>
            <a:ext cx="3566160" cy="2423160"/>
          </a:xfrm>
          <a:prstGeom prst="roundRect">
            <a:avLst>
              <a:gd name="adj" fmla="val 8000"/>
            </a:avLst>
          </a:prstGeom>
          <a:solidFill>
            <a:srgbClr val="23313C"/>
          </a:solidFill>
          <a:ln w="10160">
            <a:solidFill>
              <a:srgbClr val="2331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79792" y="1444752"/>
            <a:ext cx="3328416" cy="2148840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571231" y="1554480"/>
            <a:ext cx="3127248" cy="1874519"/>
          </a:xfrm>
          <a:prstGeom prst="roundRect">
            <a:avLst>
              <a:gd name="adj" fmla="val 8000"/>
            </a:avLst>
          </a:prstGeom>
          <a:solidFill>
            <a:srgbClr val="FAFDFF"/>
          </a:solidFill>
          <a:ln w="10160">
            <a:solidFill>
              <a:srgbClr val="C8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626096" y="1609344"/>
            <a:ext cx="3017520" cy="182880"/>
          </a:xfrm>
          <a:prstGeom prst="roundRect">
            <a:avLst>
              <a:gd name="adj" fmla="val 8000"/>
            </a:avLst>
          </a:prstGeom>
          <a:solidFill>
            <a:srgbClr val="08345B"/>
          </a:solidFill>
          <a:ln w="10160">
            <a:solidFill>
              <a:srgbClr val="083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08392" y="1609344"/>
            <a:ext cx="2852928" cy="182880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l"/>
            <a:r>
              <a:rPr sz="650" b="1" i="0">
                <a:solidFill>
                  <a:srgbClr val="FFFFFF"/>
                </a:solidFill>
                <a:latin typeface="Aptos"/>
              </a:rPr>
              <a:t>Workforce AI   •   Overview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53527" y="1865376"/>
            <a:ext cx="926591" cy="3840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97B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80959" y="1883664"/>
            <a:ext cx="871727" cy="118872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ctr"/>
            <a:r>
              <a:rPr sz="550" b="1" i="0">
                <a:solidFill>
                  <a:srgbClr val="5B7D97"/>
                </a:solidFill>
                <a:latin typeface="Aptos"/>
              </a:rPr>
              <a:t>Employees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59" y="2002536"/>
            <a:ext cx="871727" cy="182880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ctr"/>
            <a:r>
              <a:rPr sz="1000" b="1" i="0">
                <a:solidFill>
                  <a:srgbClr val="006CBE"/>
                </a:solidFill>
                <a:latin typeface="Aptos"/>
              </a:rPr>
              <a:t>248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644128" y="1865376"/>
            <a:ext cx="926591" cy="3840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97B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71560" y="1883664"/>
            <a:ext cx="871727" cy="118872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ctr"/>
            <a:r>
              <a:rPr sz="550" b="1" i="0">
                <a:solidFill>
                  <a:srgbClr val="5B7D97"/>
                </a:solidFill>
                <a:latin typeface="Aptos"/>
              </a:rPr>
              <a:t>Present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71560" y="2002536"/>
            <a:ext cx="871727" cy="182880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ctr"/>
            <a:r>
              <a:rPr sz="1000" b="1" i="0">
                <a:solidFill>
                  <a:srgbClr val="00A096"/>
                </a:solidFill>
                <a:latin typeface="Aptos"/>
              </a:rPr>
              <a:t>231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34727" y="1865376"/>
            <a:ext cx="926591" cy="3840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97B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62159" y="1883664"/>
            <a:ext cx="871727" cy="118872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ctr"/>
            <a:r>
              <a:rPr sz="550" b="1" i="0">
                <a:solidFill>
                  <a:srgbClr val="5B7D97"/>
                </a:solidFill>
                <a:latin typeface="Aptos"/>
              </a:rPr>
              <a:t>On Leave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62159" y="2002536"/>
            <a:ext cx="871727" cy="182880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ctr"/>
            <a:r>
              <a:rPr sz="1000" b="1" i="0">
                <a:solidFill>
                  <a:srgbClr val="664FBF"/>
                </a:solidFill>
                <a:latin typeface="Aptos"/>
              </a:rPr>
              <a:t>17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662671" y="2313432"/>
            <a:ext cx="1751258" cy="102412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97B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08392" y="2331720"/>
            <a:ext cx="1563624" cy="146304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l"/>
            <a:r>
              <a:rPr sz="650" b="1" i="0">
                <a:solidFill>
                  <a:srgbClr val="08345B"/>
                </a:solidFill>
                <a:latin typeface="Aptos"/>
              </a:rPr>
              <a:t>Weekly attendance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90688" y="3035808"/>
            <a:ext cx="91440" cy="228600"/>
          </a:xfrm>
          <a:prstGeom prst="roundRect">
            <a:avLst>
              <a:gd name="adj" fmla="val 8000"/>
            </a:avLst>
          </a:prstGeom>
          <a:solidFill>
            <a:srgbClr val="006CBE"/>
          </a:solidFill>
          <a:ln w="10160">
            <a:solidFill>
              <a:srgbClr val="00A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025231" y="2880360"/>
            <a:ext cx="91440" cy="384048"/>
          </a:xfrm>
          <a:prstGeom prst="roundRect">
            <a:avLst>
              <a:gd name="adj" fmla="val 8000"/>
            </a:avLst>
          </a:prstGeom>
          <a:solidFill>
            <a:srgbClr val="00A096"/>
          </a:solidFill>
          <a:ln w="10160">
            <a:solidFill>
              <a:srgbClr val="00A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259775" y="2962656"/>
            <a:ext cx="91440" cy="301752"/>
          </a:xfrm>
          <a:prstGeom prst="roundRect">
            <a:avLst>
              <a:gd name="adj" fmla="val 8000"/>
            </a:avLst>
          </a:prstGeom>
          <a:solidFill>
            <a:srgbClr val="006CBE"/>
          </a:solidFill>
          <a:ln w="10160">
            <a:solidFill>
              <a:srgbClr val="00A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494318" y="2761487"/>
            <a:ext cx="91440" cy="502920"/>
          </a:xfrm>
          <a:prstGeom prst="roundRect">
            <a:avLst>
              <a:gd name="adj" fmla="val 8000"/>
            </a:avLst>
          </a:prstGeom>
          <a:solidFill>
            <a:srgbClr val="00A096"/>
          </a:solidFill>
          <a:ln w="10160">
            <a:solidFill>
              <a:srgbClr val="00A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728862" y="2843784"/>
            <a:ext cx="91440" cy="420624"/>
          </a:xfrm>
          <a:prstGeom prst="roundRect">
            <a:avLst>
              <a:gd name="adj" fmla="val 8000"/>
            </a:avLst>
          </a:prstGeom>
          <a:solidFill>
            <a:srgbClr val="006CBE"/>
          </a:solidFill>
          <a:ln w="10160">
            <a:solidFill>
              <a:srgbClr val="00A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963406" y="2688336"/>
            <a:ext cx="91440" cy="576072"/>
          </a:xfrm>
          <a:prstGeom prst="roundRect">
            <a:avLst>
              <a:gd name="adj" fmla="val 8000"/>
            </a:avLst>
          </a:prstGeom>
          <a:solidFill>
            <a:srgbClr val="00A096"/>
          </a:solidFill>
          <a:ln w="10160">
            <a:solidFill>
              <a:srgbClr val="00A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9760305" y="2313432"/>
            <a:ext cx="781812" cy="102412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97B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822850" y="2340864"/>
            <a:ext cx="656722" cy="128016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ctr"/>
            <a:r>
              <a:rPr sz="600" b="1" i="0">
                <a:solidFill>
                  <a:srgbClr val="08345B"/>
                </a:solidFill>
                <a:latin typeface="Aptos"/>
              </a:rPr>
              <a:t>Requests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822850" y="2487168"/>
            <a:ext cx="656722" cy="237744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ctr"/>
            <a:r>
              <a:rPr sz="1300" b="1" i="0">
                <a:solidFill>
                  <a:srgbClr val="006CBE"/>
                </a:solidFill>
                <a:latin typeface="Aptos"/>
              </a:rPr>
              <a:t>12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822850" y="2734056"/>
            <a:ext cx="656722" cy="137160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ctr"/>
            <a:r>
              <a:rPr sz="550" b="0" i="0">
                <a:solidFill>
                  <a:srgbClr val="5B7D97"/>
                </a:solidFill>
                <a:latin typeface="Aptos"/>
              </a:rPr>
              <a:t>Pending</a:t>
            </a:r>
          </a:p>
        </p:txBody>
      </p:sp>
      <p:sp>
        <p:nvSpPr>
          <p:cNvPr id="44" name="Trapezoid 43"/>
          <p:cNvSpPr/>
          <p:nvPr/>
        </p:nvSpPr>
        <p:spPr>
          <a:xfrm>
            <a:off x="7114032" y="3703320"/>
            <a:ext cx="4069080" cy="256032"/>
          </a:xfrm>
          <a:prstGeom prst="trapezoid">
            <a:avLst/>
          </a:prstGeom>
          <a:solidFill>
            <a:srgbClr val="4C575E"/>
          </a:solidFill>
          <a:ln>
            <a:solidFill>
              <a:srgbClr val="4C5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347472" y="310896"/>
            <a:ext cx="310896" cy="310896"/>
          </a:xfrm>
          <a:prstGeom prst="ellipse">
            <a:avLst/>
          </a:prstGeom>
          <a:solidFill>
            <a:srgbClr val="00A096"/>
          </a:solidFill>
          <a:ln>
            <a:solidFill>
              <a:srgbClr val="006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47472" y="315468"/>
            <a:ext cx="310896" cy="301752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✣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" y="292608"/>
            <a:ext cx="2560320" cy="292608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ptos"/>
              </a:rPr>
              <a:t>Workforce AI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47472" y="960120"/>
            <a:ext cx="4709160" cy="566928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ptos"/>
              </a:rPr>
              <a:t>Workforce AI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65760" y="1536192"/>
            <a:ext cx="4754880" cy="384048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l"/>
            <a:r>
              <a:rPr sz="1500" b="1" i="0">
                <a:solidFill>
                  <a:srgbClr val="4CD3D5"/>
                </a:solidFill>
                <a:latin typeface="Aptos"/>
              </a:rPr>
              <a:t>AI-Powered Workforce Management System</a:t>
            </a:r>
          </a:p>
        </p:txBody>
      </p:sp>
      <p:sp>
        <p:nvSpPr>
          <p:cNvPr id="50" name="Oval 49"/>
          <p:cNvSpPr/>
          <p:nvPr/>
        </p:nvSpPr>
        <p:spPr>
          <a:xfrm>
            <a:off x="365760" y="2212848"/>
            <a:ext cx="292608" cy="292608"/>
          </a:xfrm>
          <a:prstGeom prst="ellipse">
            <a:avLst/>
          </a:prstGeom>
          <a:solidFill>
            <a:srgbClr val="00A096"/>
          </a:solidFill>
          <a:ln>
            <a:solidFill>
              <a:srgbClr val="006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65760" y="2217420"/>
            <a:ext cx="292608" cy="283464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✥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77240" y="2203704"/>
            <a:ext cx="4069080" cy="475488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l"/>
            <a:r>
              <a:rPr sz="1019" b="0" i="0">
                <a:solidFill>
                  <a:srgbClr val="FFFFFF"/>
                </a:solidFill>
                <a:latin typeface="Aptos"/>
              </a:rPr>
              <a:t>A centralized application for workforce management.</a:t>
            </a:r>
          </a:p>
        </p:txBody>
      </p:sp>
      <p:sp>
        <p:nvSpPr>
          <p:cNvPr id="53" name="Oval 52"/>
          <p:cNvSpPr/>
          <p:nvPr/>
        </p:nvSpPr>
        <p:spPr>
          <a:xfrm>
            <a:off x="365760" y="2926080"/>
            <a:ext cx="292608" cy="292608"/>
          </a:xfrm>
          <a:prstGeom prst="ellipse">
            <a:avLst/>
          </a:prstGeom>
          <a:solidFill>
            <a:srgbClr val="00A096"/>
          </a:solidFill>
          <a:ln>
            <a:solidFill>
              <a:srgbClr val="006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65760" y="2930652"/>
            <a:ext cx="292608" cy="283464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▣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77240" y="2916936"/>
            <a:ext cx="4069080" cy="475488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l"/>
            <a:r>
              <a:rPr sz="1019" b="0" i="0">
                <a:solidFill>
                  <a:srgbClr val="FFFFFF"/>
                </a:solidFill>
                <a:latin typeface="Aptos"/>
              </a:rPr>
              <a:t>Designed to organize employee information and workforce operations.</a:t>
            </a:r>
          </a:p>
        </p:txBody>
      </p:sp>
      <p:sp>
        <p:nvSpPr>
          <p:cNvPr id="56" name="Oval 55"/>
          <p:cNvSpPr/>
          <p:nvPr/>
        </p:nvSpPr>
        <p:spPr>
          <a:xfrm>
            <a:off x="365760" y="3639312"/>
            <a:ext cx="292608" cy="292608"/>
          </a:xfrm>
          <a:prstGeom prst="ellipse">
            <a:avLst/>
          </a:prstGeom>
          <a:solidFill>
            <a:srgbClr val="00A096"/>
          </a:solidFill>
          <a:ln>
            <a:solidFill>
              <a:srgbClr val="006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65760" y="3643884"/>
            <a:ext cx="292608" cy="283464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◉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77240" y="3630168"/>
            <a:ext cx="4069080" cy="475488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l"/>
            <a:r>
              <a:rPr sz="1019" b="0" i="0">
                <a:solidFill>
                  <a:srgbClr val="FFFFFF"/>
                </a:solidFill>
                <a:latin typeface="Aptos"/>
              </a:rPr>
              <a:t>Provides role-specific interfaces and workforce visibility.</a:t>
            </a:r>
          </a:p>
        </p:txBody>
      </p:sp>
      <p:sp>
        <p:nvSpPr>
          <p:cNvPr id="59" name="Oval 58"/>
          <p:cNvSpPr/>
          <p:nvPr/>
        </p:nvSpPr>
        <p:spPr>
          <a:xfrm>
            <a:off x="365760" y="4352544"/>
            <a:ext cx="292608" cy="292608"/>
          </a:xfrm>
          <a:prstGeom prst="ellipse">
            <a:avLst/>
          </a:prstGeom>
          <a:solidFill>
            <a:srgbClr val="00A096"/>
          </a:solidFill>
          <a:ln>
            <a:solidFill>
              <a:srgbClr val="006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65760" y="4357116"/>
            <a:ext cx="292608" cy="283464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✧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77240" y="4343400"/>
            <a:ext cx="4069080" cy="475488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l"/>
            <a:r>
              <a:rPr sz="1019" b="0" i="0">
                <a:solidFill>
                  <a:srgbClr val="FFFFFF"/>
                </a:solidFill>
                <a:latin typeface="Aptos"/>
              </a:rPr>
              <a:t>Includes an AI Assistant and workforce analytics capabilities.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365760" y="5321808"/>
            <a:ext cx="4709160" cy="0"/>
          </a:xfrm>
          <a:prstGeom prst="line">
            <a:avLst/>
          </a:prstGeom>
          <a:ln w="12700">
            <a:solidFill>
              <a:srgbClr val="356C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384048" y="5513832"/>
            <a:ext cx="1234440" cy="182880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l"/>
            <a:r>
              <a:rPr sz="720" b="1" i="0">
                <a:solidFill>
                  <a:srgbClr val="B9D3E5"/>
                </a:solidFill>
                <a:latin typeface="Aptos"/>
              </a:rPr>
              <a:t>Presented by: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84048" y="5715000"/>
            <a:ext cx="1234440" cy="228600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Aptos"/>
              </a:rPr>
              <a:t>Your Name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828800" y="5513832"/>
            <a:ext cx="1280160" cy="182880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l"/>
            <a:r>
              <a:rPr sz="720" b="1" i="0">
                <a:solidFill>
                  <a:srgbClr val="B9D3E5"/>
                </a:solidFill>
                <a:latin typeface="Aptos"/>
              </a:rPr>
              <a:t>Project Mentor: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828800" y="5715000"/>
            <a:ext cx="1280160" cy="228600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Aptos"/>
              </a:rPr>
              <a:t>Mentor Name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429000" y="5513832"/>
            <a:ext cx="1554480" cy="182880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l"/>
            <a:r>
              <a:rPr sz="720" b="1" i="0">
                <a:solidFill>
                  <a:srgbClr val="B9D3E5"/>
                </a:solidFill>
                <a:latin typeface="Aptos"/>
              </a:rPr>
              <a:t>Organization / Team: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429000" y="5715000"/>
            <a:ext cx="1280160" cy="228600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Aptos"/>
              </a:rPr>
              <a:t>Infosys</a:t>
            </a:r>
          </a:p>
        </p:txBody>
      </p:sp>
      <p:pic>
        <p:nvPicPr>
          <p:cNvPr id="69" name="Picture 68" descr="workforce_hero_cro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0992" y="73152"/>
            <a:ext cx="6464808" cy="6711696"/>
          </a:xfrm>
          <a:prstGeom prst="rect">
            <a:avLst/>
          </a:prstGeom>
          <a:ln>
            <a:solidFill>
              <a:srgbClr val="D7E6EF"/>
            </a:solidFill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109728"/>
            <a:ext cx="10881360" cy="347472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l"/>
            <a:r>
              <a:rPr sz="2000" b="1" i="0">
                <a:solidFill>
                  <a:srgbClr val="08345B"/>
                </a:solidFill>
                <a:latin typeface="Aptos"/>
              </a:rP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66344"/>
            <a:ext cx="10972800" cy="256032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l"/>
            <a:r>
              <a:rPr sz="950" b="0" i="0">
                <a:solidFill>
                  <a:srgbClr val="5B7D97"/>
                </a:solidFill>
                <a:latin typeface="Aptos"/>
              </a:rPr>
              <a:t>Workforce AI brings all workforce operations into one platform, with role-specific access and AI-powered insights.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31168" y="109728"/>
            <a:ext cx="256032" cy="201168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r"/>
            <a:r>
              <a:rPr sz="800" b="1" i="0">
                <a:solidFill>
                  <a:srgbClr val="08345B"/>
                </a:solidFill>
                <a:latin typeface="Aptos"/>
              </a:rPr>
              <a:t>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28600" y="786384"/>
            <a:ext cx="11731752" cy="0"/>
          </a:xfrm>
          <a:prstGeom prst="line">
            <a:avLst/>
          </a:prstGeom>
          <a:ln w="10160">
            <a:solidFill>
              <a:srgbClr val="97BE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1097280" y="1234440"/>
            <a:ext cx="658368" cy="658368"/>
          </a:xfrm>
          <a:prstGeom prst="ellipse">
            <a:avLst/>
          </a:prstGeom>
          <a:solidFill>
            <a:srgbClr val="006CBE"/>
          </a:solidFill>
          <a:ln>
            <a:solidFill>
              <a:srgbClr val="006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239012"/>
            <a:ext cx="658368" cy="649224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ptos"/>
              </a:rPr>
              <a:t>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938528"/>
            <a:ext cx="1325880" cy="475488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ctr"/>
            <a:r>
              <a:rPr sz="1000" b="1" i="0">
                <a:solidFill>
                  <a:srgbClr val="08345B"/>
                </a:solidFill>
                <a:latin typeface="Aptos"/>
              </a:rPr>
              <a:t>One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58568" y="1399032"/>
            <a:ext cx="1051560" cy="411480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ctr"/>
            <a:r>
              <a:rPr sz="2400" b="1" i="0">
                <a:solidFill>
                  <a:srgbClr val="08345B"/>
                </a:solidFill>
                <a:latin typeface="Aptos"/>
              </a:rPr>
              <a:t>⟶</a:t>
            </a:r>
          </a:p>
        </p:txBody>
      </p:sp>
      <p:sp>
        <p:nvSpPr>
          <p:cNvPr id="10" name="Oval 9"/>
          <p:cNvSpPr/>
          <p:nvPr/>
        </p:nvSpPr>
        <p:spPr>
          <a:xfrm>
            <a:off x="3840480" y="1234440"/>
            <a:ext cx="658368" cy="658368"/>
          </a:xfrm>
          <a:prstGeom prst="ellipse">
            <a:avLst/>
          </a:prstGeom>
          <a:solidFill>
            <a:srgbClr val="00A096"/>
          </a:solidFill>
          <a:ln>
            <a:solidFill>
              <a:srgbClr val="006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0" y="1239012"/>
            <a:ext cx="658368" cy="649224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ptos"/>
              </a:rPr>
              <a:t>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1938528"/>
            <a:ext cx="1325880" cy="475488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ctr"/>
            <a:r>
              <a:rPr sz="1000" b="1" i="0">
                <a:solidFill>
                  <a:srgbClr val="08345B"/>
                </a:solidFill>
                <a:latin typeface="Aptos"/>
              </a:rPr>
              <a:t>Multiple Workforce
Functions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01768" y="1399032"/>
            <a:ext cx="1051560" cy="411480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ctr"/>
            <a:r>
              <a:rPr sz="2400" b="1" i="0">
                <a:solidFill>
                  <a:srgbClr val="08345B"/>
                </a:solidFill>
                <a:latin typeface="Aptos"/>
              </a:rPr>
              <a:t>⟶</a:t>
            </a:r>
          </a:p>
        </p:txBody>
      </p:sp>
      <p:sp>
        <p:nvSpPr>
          <p:cNvPr id="14" name="Oval 13"/>
          <p:cNvSpPr/>
          <p:nvPr/>
        </p:nvSpPr>
        <p:spPr>
          <a:xfrm>
            <a:off x="6583679" y="1234440"/>
            <a:ext cx="658368" cy="658368"/>
          </a:xfrm>
          <a:prstGeom prst="ellipse">
            <a:avLst/>
          </a:prstGeom>
          <a:solidFill>
            <a:srgbClr val="009D77"/>
          </a:solidFill>
          <a:ln>
            <a:solidFill>
              <a:srgbClr val="006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79" y="1239012"/>
            <a:ext cx="658368" cy="649224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ptos"/>
              </a:rPr>
              <a:t>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1938528"/>
            <a:ext cx="1325880" cy="475488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ctr"/>
            <a:r>
              <a:rPr sz="1000" b="1" i="0">
                <a:solidFill>
                  <a:srgbClr val="08345B"/>
                </a:solidFill>
                <a:latin typeface="Aptos"/>
              </a:rPr>
              <a:t>Role-Specific
Access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44967" y="1399032"/>
            <a:ext cx="1051560" cy="411480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ctr"/>
            <a:r>
              <a:rPr sz="2400" b="1" i="0">
                <a:solidFill>
                  <a:srgbClr val="08345B"/>
                </a:solidFill>
                <a:latin typeface="Aptos"/>
              </a:rPr>
              <a:t>⟶</a:t>
            </a:r>
          </a:p>
        </p:txBody>
      </p:sp>
      <p:sp>
        <p:nvSpPr>
          <p:cNvPr id="18" name="Oval 17"/>
          <p:cNvSpPr/>
          <p:nvPr/>
        </p:nvSpPr>
        <p:spPr>
          <a:xfrm>
            <a:off x="9326880" y="1234440"/>
            <a:ext cx="658368" cy="658368"/>
          </a:xfrm>
          <a:prstGeom prst="ellipse">
            <a:avLst/>
          </a:prstGeom>
          <a:solidFill>
            <a:srgbClr val="00A096"/>
          </a:solidFill>
          <a:ln>
            <a:solidFill>
              <a:srgbClr val="006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0" y="1239012"/>
            <a:ext cx="658368" cy="649224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ptos"/>
              </a:rPr>
              <a:t>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06840" y="1938528"/>
            <a:ext cx="1325880" cy="475488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ctr"/>
            <a:r>
              <a:rPr sz="1000" b="1" i="0">
                <a:solidFill>
                  <a:srgbClr val="08345B"/>
                </a:solidFill>
                <a:latin typeface="Aptos"/>
              </a:rPr>
              <a:t>Better Workforce
Visibility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" y="2880360"/>
            <a:ext cx="2084831" cy="1874519"/>
          </a:xfrm>
          <a:prstGeom prst="roundRect">
            <a:avLst>
              <a:gd name="adj" fmla="val 8000"/>
            </a:avLst>
          </a:prstGeom>
          <a:solidFill>
            <a:srgbClr val="EFF8FD"/>
          </a:solidFill>
          <a:ln w="10160">
            <a:solidFill>
              <a:srgbClr val="97B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52144" y="3127248"/>
            <a:ext cx="658368" cy="438912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ctr"/>
            <a:r>
              <a:rPr sz="2300" b="1" i="0">
                <a:solidFill>
                  <a:srgbClr val="006CBE"/>
                </a:solidFill>
                <a:latin typeface="Aptos"/>
              </a:rPr>
              <a:t>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" y="3685032"/>
            <a:ext cx="1901952" cy="685800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ctr"/>
            <a:r>
              <a:rPr sz="919" b="1" i="0">
                <a:solidFill>
                  <a:srgbClr val="204665"/>
                </a:solidFill>
                <a:latin typeface="Aptos"/>
              </a:rPr>
              <a:t>Employee &amp; Workforce
Management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52344" y="2880360"/>
            <a:ext cx="2084831" cy="1874519"/>
          </a:xfrm>
          <a:prstGeom prst="roundRect">
            <a:avLst>
              <a:gd name="adj" fmla="val 8000"/>
            </a:avLst>
          </a:prstGeom>
          <a:solidFill>
            <a:srgbClr val="EFF8FD"/>
          </a:solidFill>
          <a:ln w="10160">
            <a:solidFill>
              <a:srgbClr val="97B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65576" y="3127248"/>
            <a:ext cx="658368" cy="438912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ctr"/>
            <a:r>
              <a:rPr sz="2300" b="1" i="0">
                <a:solidFill>
                  <a:srgbClr val="006CBE"/>
                </a:solidFill>
                <a:latin typeface="Aptos"/>
              </a:rPr>
              <a:t>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43784" y="3685032"/>
            <a:ext cx="1901952" cy="685800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ctr"/>
            <a:r>
              <a:rPr sz="919" b="1" i="0">
                <a:solidFill>
                  <a:srgbClr val="204665"/>
                </a:solidFill>
                <a:latin typeface="Aptos"/>
              </a:rPr>
              <a:t>Attendance &amp;
Time Tracking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65775" y="2880360"/>
            <a:ext cx="2084831" cy="1874519"/>
          </a:xfrm>
          <a:prstGeom prst="roundRect">
            <a:avLst>
              <a:gd name="adj" fmla="val 8000"/>
            </a:avLst>
          </a:prstGeom>
          <a:solidFill>
            <a:srgbClr val="EFF8FD"/>
          </a:solidFill>
          <a:ln w="10160">
            <a:solidFill>
              <a:srgbClr val="97B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779007" y="3127248"/>
            <a:ext cx="658368" cy="438912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ctr"/>
            <a:r>
              <a:rPr sz="2300" b="1" i="0">
                <a:solidFill>
                  <a:srgbClr val="006CBE"/>
                </a:solidFill>
                <a:latin typeface="Aptos"/>
              </a:rPr>
              <a:t>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57215" y="3685032"/>
            <a:ext cx="1901952" cy="685800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ctr"/>
            <a:r>
              <a:rPr sz="919" b="1" i="0">
                <a:solidFill>
                  <a:srgbClr val="204665"/>
                </a:solidFill>
                <a:latin typeface="Aptos"/>
              </a:rPr>
              <a:t>Leave, Shifts &amp;
Timesheets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79208" y="2880360"/>
            <a:ext cx="2084831" cy="1874519"/>
          </a:xfrm>
          <a:prstGeom prst="roundRect">
            <a:avLst>
              <a:gd name="adj" fmla="val 8000"/>
            </a:avLst>
          </a:prstGeom>
          <a:solidFill>
            <a:srgbClr val="EFF8FD"/>
          </a:solidFill>
          <a:ln w="10160">
            <a:solidFill>
              <a:srgbClr val="97B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92440" y="3127248"/>
            <a:ext cx="658368" cy="438912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ctr"/>
            <a:r>
              <a:rPr sz="2300" b="1" i="0">
                <a:solidFill>
                  <a:srgbClr val="006CBE"/>
                </a:solidFill>
                <a:latin typeface="Aptos"/>
              </a:rPr>
              <a:t>₹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70648" y="3685032"/>
            <a:ext cx="1901952" cy="685800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ctr"/>
            <a:r>
              <a:rPr sz="919" b="1" i="0">
                <a:solidFill>
                  <a:srgbClr val="204665"/>
                </a:solidFill>
                <a:latin typeface="Aptos"/>
              </a:rPr>
              <a:t>Payroll &amp;
Performance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692640" y="2880360"/>
            <a:ext cx="2084831" cy="1874519"/>
          </a:xfrm>
          <a:prstGeom prst="roundRect">
            <a:avLst>
              <a:gd name="adj" fmla="val 8000"/>
            </a:avLst>
          </a:prstGeom>
          <a:solidFill>
            <a:srgbClr val="EFF8FD"/>
          </a:solidFill>
          <a:ln w="10160">
            <a:solidFill>
              <a:srgbClr val="97B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405872" y="3127248"/>
            <a:ext cx="658368" cy="438912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ctr"/>
            <a:r>
              <a:rPr sz="2300" b="1" i="0">
                <a:solidFill>
                  <a:srgbClr val="006CBE"/>
                </a:solidFill>
                <a:latin typeface="Aptos"/>
              </a:rPr>
              <a:t>⌁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84080" y="3685032"/>
            <a:ext cx="1901952" cy="685800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ctr"/>
            <a:r>
              <a:rPr sz="919" b="1" i="0">
                <a:solidFill>
                  <a:srgbClr val="204665"/>
                </a:solidFill>
                <a:latin typeface="Aptos"/>
              </a:rPr>
              <a:t>Dashboards, Analytics
&amp; AI Assistant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71600" y="5257800"/>
            <a:ext cx="9418320" cy="365760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ctr"/>
            <a:r>
              <a:rPr sz="1200" b="1" i="0">
                <a:solidFill>
                  <a:srgbClr val="00A096"/>
                </a:solidFill>
                <a:latin typeface="Aptos"/>
              </a:rPr>
              <a:t>One connected experience for day-to-day workforce operations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109728"/>
            <a:ext cx="10881360" cy="347472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l"/>
            <a:r>
              <a:rPr sz="2000" b="1" i="0">
                <a:solidFill>
                  <a:srgbClr val="08345B"/>
                </a:solidFill>
                <a:latin typeface="Aptos"/>
              </a:rPr>
              <a:t>Business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66344"/>
            <a:ext cx="10972800" cy="256032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l"/>
            <a:r>
              <a:rPr sz="950" b="0" i="0">
                <a:solidFill>
                  <a:srgbClr val="5B7D97"/>
                </a:solidFill>
                <a:latin typeface="Aptos"/>
              </a:rPr>
              <a:t>Current workforce management processes face several challenges.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31168" y="109728"/>
            <a:ext cx="256032" cy="201168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r"/>
            <a:r>
              <a:rPr sz="800" b="1" i="0">
                <a:solidFill>
                  <a:srgbClr val="08345B"/>
                </a:solidFill>
                <a:latin typeface="Aptos"/>
              </a:rPr>
              <a:t>3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28600" y="786384"/>
            <a:ext cx="11731752" cy="0"/>
          </a:xfrm>
          <a:prstGeom prst="line">
            <a:avLst/>
          </a:prstGeom>
          <a:ln w="10160">
            <a:solidFill>
              <a:srgbClr val="97BE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11480" y="1005840"/>
            <a:ext cx="3429000" cy="5166360"/>
          </a:xfrm>
          <a:prstGeom prst="roundRect">
            <a:avLst>
              <a:gd name="adj" fmla="val 8000"/>
            </a:avLst>
          </a:prstGeom>
          <a:solidFill>
            <a:srgbClr val="E6EFF2"/>
          </a:solidFill>
          <a:ln w="10160">
            <a:solidFill>
              <a:srgbClr val="97B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243584"/>
            <a:ext cx="2926080" cy="2011680"/>
          </a:xfrm>
          <a:prstGeom prst="rect">
            <a:avLst/>
          </a:prstGeom>
          <a:solidFill>
            <a:srgbClr val="CFE0E7"/>
          </a:solidFill>
          <a:ln w="10160">
            <a:solidFill>
              <a:srgbClr val="CF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1417320"/>
            <a:ext cx="160020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CD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1024128" y="1691640"/>
            <a:ext cx="1243584" cy="0"/>
          </a:xfrm>
          <a:prstGeom prst="line">
            <a:avLst/>
          </a:prstGeom>
          <a:ln w="6350">
            <a:solidFill>
              <a:srgbClr val="B4C6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024128" y="1892808"/>
            <a:ext cx="1243584" cy="0"/>
          </a:xfrm>
          <a:prstGeom prst="line">
            <a:avLst/>
          </a:prstGeom>
          <a:ln w="6350">
            <a:solidFill>
              <a:srgbClr val="B4C6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024128" y="2093976"/>
            <a:ext cx="1243584" cy="0"/>
          </a:xfrm>
          <a:prstGeom prst="line">
            <a:avLst/>
          </a:prstGeom>
          <a:ln w="6350">
            <a:solidFill>
              <a:srgbClr val="B4C6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024128" y="2295144"/>
            <a:ext cx="1243584" cy="0"/>
          </a:xfrm>
          <a:prstGeom prst="line">
            <a:avLst/>
          </a:prstGeom>
          <a:ln w="6350">
            <a:solidFill>
              <a:srgbClr val="B4C6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1161288" y="1490472"/>
            <a:ext cx="160020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CD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1316736" y="1764792"/>
            <a:ext cx="1243584" cy="0"/>
          </a:xfrm>
          <a:prstGeom prst="line">
            <a:avLst/>
          </a:prstGeom>
          <a:ln w="6350">
            <a:solidFill>
              <a:srgbClr val="B4C6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316736" y="1965960"/>
            <a:ext cx="1243584" cy="0"/>
          </a:xfrm>
          <a:prstGeom prst="line">
            <a:avLst/>
          </a:prstGeom>
          <a:ln w="6350">
            <a:solidFill>
              <a:srgbClr val="B4C6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316736" y="2167128"/>
            <a:ext cx="1243584" cy="0"/>
          </a:xfrm>
          <a:prstGeom prst="line">
            <a:avLst/>
          </a:prstGeom>
          <a:ln w="6350">
            <a:solidFill>
              <a:srgbClr val="B4C6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316736" y="2368296"/>
            <a:ext cx="1243584" cy="0"/>
          </a:xfrm>
          <a:prstGeom prst="line">
            <a:avLst/>
          </a:prstGeom>
          <a:ln w="6350">
            <a:solidFill>
              <a:srgbClr val="B4C6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1453895" y="1563624"/>
            <a:ext cx="160020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CD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1609344" y="1837944"/>
            <a:ext cx="1243584" cy="0"/>
          </a:xfrm>
          <a:prstGeom prst="line">
            <a:avLst/>
          </a:prstGeom>
          <a:ln w="6350">
            <a:solidFill>
              <a:srgbClr val="B4C6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609344" y="2039112"/>
            <a:ext cx="1243584" cy="0"/>
          </a:xfrm>
          <a:prstGeom prst="line">
            <a:avLst/>
          </a:prstGeom>
          <a:ln w="6350">
            <a:solidFill>
              <a:srgbClr val="B4C6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609344" y="2240280"/>
            <a:ext cx="1243584" cy="0"/>
          </a:xfrm>
          <a:prstGeom prst="line">
            <a:avLst/>
          </a:prstGeom>
          <a:ln w="6350">
            <a:solidFill>
              <a:srgbClr val="B4C6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609344" y="2441448"/>
            <a:ext cx="1243584" cy="0"/>
          </a:xfrm>
          <a:prstGeom prst="line">
            <a:avLst/>
          </a:prstGeom>
          <a:ln w="6350">
            <a:solidFill>
              <a:srgbClr val="B4C6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1746504" y="1636776"/>
            <a:ext cx="160020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CD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1901952" y="1911095"/>
            <a:ext cx="1243584" cy="0"/>
          </a:xfrm>
          <a:prstGeom prst="line">
            <a:avLst/>
          </a:prstGeom>
          <a:ln w="6350">
            <a:solidFill>
              <a:srgbClr val="B4C6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901952" y="2112264"/>
            <a:ext cx="1243584" cy="0"/>
          </a:xfrm>
          <a:prstGeom prst="line">
            <a:avLst/>
          </a:prstGeom>
          <a:ln w="6350">
            <a:solidFill>
              <a:srgbClr val="B4C6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901952" y="2313432"/>
            <a:ext cx="1243584" cy="0"/>
          </a:xfrm>
          <a:prstGeom prst="line">
            <a:avLst/>
          </a:prstGeom>
          <a:ln w="6350">
            <a:solidFill>
              <a:srgbClr val="B4C6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901952" y="2514600"/>
            <a:ext cx="1243584" cy="0"/>
          </a:xfrm>
          <a:prstGeom prst="line">
            <a:avLst/>
          </a:prstGeom>
          <a:ln w="6350">
            <a:solidFill>
              <a:srgbClr val="B4C6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2039112" y="1709928"/>
            <a:ext cx="160020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CD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2194560" y="1984248"/>
            <a:ext cx="1243584" cy="0"/>
          </a:xfrm>
          <a:prstGeom prst="line">
            <a:avLst/>
          </a:prstGeom>
          <a:ln w="6350">
            <a:solidFill>
              <a:srgbClr val="B4C6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194560" y="2185416"/>
            <a:ext cx="1243584" cy="0"/>
          </a:xfrm>
          <a:prstGeom prst="line">
            <a:avLst/>
          </a:prstGeom>
          <a:ln w="6350">
            <a:solidFill>
              <a:srgbClr val="B4C6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2194560" y="2386584"/>
            <a:ext cx="1243584" cy="0"/>
          </a:xfrm>
          <a:prstGeom prst="line">
            <a:avLst/>
          </a:prstGeom>
          <a:ln w="6350">
            <a:solidFill>
              <a:srgbClr val="B4C6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2194560" y="2587752"/>
            <a:ext cx="1243584" cy="0"/>
          </a:xfrm>
          <a:prstGeom prst="line">
            <a:avLst/>
          </a:prstGeom>
          <a:ln w="6350">
            <a:solidFill>
              <a:srgbClr val="B4C6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548640" y="3429000"/>
            <a:ext cx="3154680" cy="2331720"/>
          </a:xfrm>
          <a:prstGeom prst="rect">
            <a:avLst/>
          </a:prstGeom>
          <a:solidFill>
            <a:srgbClr val="A27D5D"/>
          </a:solidFill>
          <a:ln w="10160">
            <a:solidFill>
              <a:srgbClr val="A27D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60120" y="3749039"/>
            <a:ext cx="2057400" cy="1554480"/>
          </a:xfrm>
          <a:prstGeom prst="roundRect">
            <a:avLst>
              <a:gd name="adj" fmla="val 8000"/>
            </a:avLst>
          </a:prstGeom>
          <a:solidFill>
            <a:srgbClr val="F9F9F4"/>
          </a:solidFill>
          <a:ln w="10160">
            <a:solidFill>
              <a:srgbClr val="C9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" name="Connector 34"/>
          <p:cNvCxnSpPr/>
          <p:nvPr/>
        </p:nvCxnSpPr>
        <p:spPr>
          <a:xfrm>
            <a:off x="1188720" y="3977639"/>
            <a:ext cx="1481328" cy="0"/>
          </a:xfrm>
          <a:prstGeom prst="line">
            <a:avLst/>
          </a:prstGeom>
          <a:ln w="6985">
            <a:solidFill>
              <a:srgbClr val="B1C3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188720" y="4178807"/>
            <a:ext cx="1481328" cy="0"/>
          </a:xfrm>
          <a:prstGeom prst="line">
            <a:avLst/>
          </a:prstGeom>
          <a:ln w="6985">
            <a:solidFill>
              <a:srgbClr val="B1C3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1188720" y="4379976"/>
            <a:ext cx="1481328" cy="0"/>
          </a:xfrm>
          <a:prstGeom prst="line">
            <a:avLst/>
          </a:prstGeom>
          <a:ln w="6985">
            <a:solidFill>
              <a:srgbClr val="B1C3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1188720" y="4581144"/>
            <a:ext cx="1481328" cy="0"/>
          </a:xfrm>
          <a:prstGeom prst="line">
            <a:avLst/>
          </a:prstGeom>
          <a:ln w="6985">
            <a:solidFill>
              <a:srgbClr val="B1C3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1188720" y="4782312"/>
            <a:ext cx="1481328" cy="0"/>
          </a:xfrm>
          <a:prstGeom prst="line">
            <a:avLst/>
          </a:prstGeom>
          <a:ln w="6985">
            <a:solidFill>
              <a:srgbClr val="B1C3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1078992" y="3840479"/>
            <a:ext cx="2057400" cy="1554480"/>
          </a:xfrm>
          <a:prstGeom prst="roundRect">
            <a:avLst>
              <a:gd name="adj" fmla="val 8000"/>
            </a:avLst>
          </a:prstGeom>
          <a:solidFill>
            <a:srgbClr val="F9F9F4"/>
          </a:solidFill>
          <a:ln w="10160">
            <a:solidFill>
              <a:srgbClr val="C9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" name="Connector 40"/>
          <p:cNvCxnSpPr/>
          <p:nvPr/>
        </p:nvCxnSpPr>
        <p:spPr>
          <a:xfrm>
            <a:off x="1307592" y="4069079"/>
            <a:ext cx="1481328" cy="0"/>
          </a:xfrm>
          <a:prstGeom prst="line">
            <a:avLst/>
          </a:prstGeom>
          <a:ln w="6985">
            <a:solidFill>
              <a:srgbClr val="B1C3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1307592" y="4270247"/>
            <a:ext cx="1481328" cy="0"/>
          </a:xfrm>
          <a:prstGeom prst="line">
            <a:avLst/>
          </a:prstGeom>
          <a:ln w="6985">
            <a:solidFill>
              <a:srgbClr val="B1C3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1307592" y="4471416"/>
            <a:ext cx="1481328" cy="0"/>
          </a:xfrm>
          <a:prstGeom prst="line">
            <a:avLst/>
          </a:prstGeom>
          <a:ln w="6985">
            <a:solidFill>
              <a:srgbClr val="B1C3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1307592" y="4672583"/>
            <a:ext cx="1481328" cy="0"/>
          </a:xfrm>
          <a:prstGeom prst="line">
            <a:avLst/>
          </a:prstGeom>
          <a:ln w="6985">
            <a:solidFill>
              <a:srgbClr val="B1C3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307592" y="4873751"/>
            <a:ext cx="1481328" cy="0"/>
          </a:xfrm>
          <a:prstGeom prst="line">
            <a:avLst/>
          </a:prstGeom>
          <a:ln w="6985">
            <a:solidFill>
              <a:srgbClr val="B1C3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1197864" y="3931920"/>
            <a:ext cx="2057400" cy="1554480"/>
          </a:xfrm>
          <a:prstGeom prst="roundRect">
            <a:avLst>
              <a:gd name="adj" fmla="val 8000"/>
            </a:avLst>
          </a:prstGeom>
          <a:solidFill>
            <a:srgbClr val="F9F9F4"/>
          </a:solidFill>
          <a:ln w="10160">
            <a:solidFill>
              <a:srgbClr val="C9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" name="Connector 46"/>
          <p:cNvCxnSpPr/>
          <p:nvPr/>
        </p:nvCxnSpPr>
        <p:spPr>
          <a:xfrm>
            <a:off x="1426464" y="4160520"/>
            <a:ext cx="1481327" cy="0"/>
          </a:xfrm>
          <a:prstGeom prst="line">
            <a:avLst/>
          </a:prstGeom>
          <a:ln w="6985">
            <a:solidFill>
              <a:srgbClr val="B1C3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1426464" y="4361688"/>
            <a:ext cx="1481327" cy="0"/>
          </a:xfrm>
          <a:prstGeom prst="line">
            <a:avLst/>
          </a:prstGeom>
          <a:ln w="6985">
            <a:solidFill>
              <a:srgbClr val="B1C3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426464" y="4562856"/>
            <a:ext cx="1481327" cy="0"/>
          </a:xfrm>
          <a:prstGeom prst="line">
            <a:avLst/>
          </a:prstGeom>
          <a:ln w="6985">
            <a:solidFill>
              <a:srgbClr val="B1C3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426464" y="4764024"/>
            <a:ext cx="1481327" cy="0"/>
          </a:xfrm>
          <a:prstGeom prst="line">
            <a:avLst/>
          </a:prstGeom>
          <a:ln w="6985">
            <a:solidFill>
              <a:srgbClr val="B1C3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426464" y="4965192"/>
            <a:ext cx="1481327" cy="0"/>
          </a:xfrm>
          <a:prstGeom prst="line">
            <a:avLst/>
          </a:prstGeom>
          <a:ln w="6985">
            <a:solidFill>
              <a:srgbClr val="B1C3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/>
          <p:cNvSpPr/>
          <p:nvPr/>
        </p:nvSpPr>
        <p:spPr>
          <a:xfrm>
            <a:off x="1316736" y="4023359"/>
            <a:ext cx="2057400" cy="1554480"/>
          </a:xfrm>
          <a:prstGeom prst="roundRect">
            <a:avLst>
              <a:gd name="adj" fmla="val 8000"/>
            </a:avLst>
          </a:prstGeom>
          <a:solidFill>
            <a:srgbClr val="F9F9F4"/>
          </a:solidFill>
          <a:ln w="10160">
            <a:solidFill>
              <a:srgbClr val="C9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" name="Connector 52"/>
          <p:cNvCxnSpPr/>
          <p:nvPr/>
        </p:nvCxnSpPr>
        <p:spPr>
          <a:xfrm>
            <a:off x="1545336" y="4251959"/>
            <a:ext cx="1481328" cy="0"/>
          </a:xfrm>
          <a:prstGeom prst="line">
            <a:avLst/>
          </a:prstGeom>
          <a:ln w="6985">
            <a:solidFill>
              <a:srgbClr val="B1C3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545336" y="4453127"/>
            <a:ext cx="1481328" cy="0"/>
          </a:xfrm>
          <a:prstGeom prst="line">
            <a:avLst/>
          </a:prstGeom>
          <a:ln w="6985">
            <a:solidFill>
              <a:srgbClr val="B1C3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545336" y="4654296"/>
            <a:ext cx="1481328" cy="0"/>
          </a:xfrm>
          <a:prstGeom prst="line">
            <a:avLst/>
          </a:prstGeom>
          <a:ln w="6985">
            <a:solidFill>
              <a:srgbClr val="B1C3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545336" y="4855464"/>
            <a:ext cx="1481328" cy="0"/>
          </a:xfrm>
          <a:prstGeom prst="line">
            <a:avLst/>
          </a:prstGeom>
          <a:ln w="6985">
            <a:solidFill>
              <a:srgbClr val="B1C3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545336" y="5056631"/>
            <a:ext cx="1481328" cy="0"/>
          </a:xfrm>
          <a:prstGeom prst="line">
            <a:avLst/>
          </a:prstGeom>
          <a:ln w="6985">
            <a:solidFill>
              <a:srgbClr val="B1C3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ounded Rectangle 57"/>
          <p:cNvSpPr/>
          <p:nvPr/>
        </p:nvSpPr>
        <p:spPr>
          <a:xfrm>
            <a:off x="4160520" y="1005840"/>
            <a:ext cx="7589520" cy="804672"/>
          </a:xfrm>
          <a:prstGeom prst="roundRect">
            <a:avLst>
              <a:gd name="adj" fmla="val 8000"/>
            </a:avLst>
          </a:prstGeom>
          <a:solidFill>
            <a:srgbClr val="EFF8FD"/>
          </a:solidFill>
          <a:ln w="10160">
            <a:solidFill>
              <a:srgbClr val="97B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4370832" y="1188720"/>
            <a:ext cx="420624" cy="420624"/>
          </a:xfrm>
          <a:prstGeom prst="ellipse">
            <a:avLst/>
          </a:prstGeom>
          <a:solidFill>
            <a:srgbClr val="006CBE"/>
          </a:solidFill>
          <a:ln>
            <a:solidFill>
              <a:srgbClr val="006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370832" y="1193292"/>
            <a:ext cx="420624" cy="411480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♧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983480" y="1097280"/>
            <a:ext cx="6446520" cy="585216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l"/>
            <a:r>
              <a:rPr sz="1030" b="0" i="0">
                <a:solidFill>
                  <a:srgbClr val="204665"/>
                </a:solidFill>
                <a:latin typeface="Aptos"/>
              </a:rPr>
              <a:t>Workforce information can be fragmented across separate tools.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160520" y="2029968"/>
            <a:ext cx="7589520" cy="804672"/>
          </a:xfrm>
          <a:prstGeom prst="roundRect">
            <a:avLst>
              <a:gd name="adj" fmla="val 8000"/>
            </a:avLst>
          </a:prstGeom>
          <a:solidFill>
            <a:srgbClr val="EFF8FD"/>
          </a:solidFill>
          <a:ln w="10160">
            <a:solidFill>
              <a:srgbClr val="97B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4370832" y="2212848"/>
            <a:ext cx="420624" cy="420624"/>
          </a:xfrm>
          <a:prstGeom prst="ellipse">
            <a:avLst/>
          </a:prstGeom>
          <a:solidFill>
            <a:srgbClr val="006CBE"/>
          </a:solidFill>
          <a:ln>
            <a:solidFill>
              <a:srgbClr val="006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370832" y="2217420"/>
            <a:ext cx="420624" cy="411480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◷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983480" y="2121408"/>
            <a:ext cx="6446520" cy="585216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l"/>
            <a:r>
              <a:rPr sz="1030" b="0" i="0">
                <a:solidFill>
                  <a:srgbClr val="204665"/>
                </a:solidFill>
                <a:latin typeface="Aptos"/>
              </a:rPr>
              <a:t>Attendance and working hours require consistent tracking.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4160520" y="3054096"/>
            <a:ext cx="7589520" cy="804672"/>
          </a:xfrm>
          <a:prstGeom prst="roundRect">
            <a:avLst>
              <a:gd name="adj" fmla="val 8000"/>
            </a:avLst>
          </a:prstGeom>
          <a:solidFill>
            <a:srgbClr val="EFF8FD"/>
          </a:solidFill>
          <a:ln w="10160">
            <a:solidFill>
              <a:srgbClr val="97B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4370832" y="3236976"/>
            <a:ext cx="420624" cy="420624"/>
          </a:xfrm>
          <a:prstGeom prst="ellipse">
            <a:avLst/>
          </a:prstGeom>
          <a:solidFill>
            <a:srgbClr val="006CBE"/>
          </a:solidFill>
          <a:ln>
            <a:solidFill>
              <a:srgbClr val="006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370832" y="3241548"/>
            <a:ext cx="420624" cy="411480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▦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983480" y="3145536"/>
            <a:ext cx="6446520" cy="585216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l"/>
            <a:r>
              <a:rPr sz="1030" b="0" i="0">
                <a:solidFill>
                  <a:srgbClr val="204665"/>
                </a:solidFill>
                <a:latin typeface="Aptos"/>
              </a:rPr>
              <a:t>Leave requests and timesheets need organized review workflows.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4160520" y="4078224"/>
            <a:ext cx="7589520" cy="804672"/>
          </a:xfrm>
          <a:prstGeom prst="roundRect">
            <a:avLst>
              <a:gd name="adj" fmla="val 8000"/>
            </a:avLst>
          </a:prstGeom>
          <a:solidFill>
            <a:srgbClr val="EFF8FD"/>
          </a:solidFill>
          <a:ln w="10160">
            <a:solidFill>
              <a:srgbClr val="97B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4370832" y="4261104"/>
            <a:ext cx="420624" cy="420624"/>
          </a:xfrm>
          <a:prstGeom prst="ellipse">
            <a:avLst/>
          </a:prstGeom>
          <a:solidFill>
            <a:srgbClr val="006CBE"/>
          </a:solidFill>
          <a:ln>
            <a:solidFill>
              <a:srgbClr val="006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370832" y="4265676"/>
            <a:ext cx="420624" cy="411480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◉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983480" y="4169664"/>
            <a:ext cx="6446520" cy="585216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l"/>
            <a:r>
              <a:rPr sz="1030" b="0" i="0">
                <a:solidFill>
                  <a:srgbClr val="204665"/>
                </a:solidFill>
                <a:latin typeface="Aptos"/>
              </a:rPr>
              <a:t>Managers and HR need visibility into workforce activity.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4160520" y="5102352"/>
            <a:ext cx="7589520" cy="804672"/>
          </a:xfrm>
          <a:prstGeom prst="roundRect">
            <a:avLst>
              <a:gd name="adj" fmla="val 8000"/>
            </a:avLst>
          </a:prstGeom>
          <a:solidFill>
            <a:srgbClr val="EFF8FD"/>
          </a:solidFill>
          <a:ln w="10160">
            <a:solidFill>
              <a:srgbClr val="97B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4370832" y="5285232"/>
            <a:ext cx="420624" cy="420624"/>
          </a:xfrm>
          <a:prstGeom prst="ellipse">
            <a:avLst/>
          </a:prstGeom>
          <a:solidFill>
            <a:srgbClr val="006CBE"/>
          </a:solidFill>
          <a:ln>
            <a:solidFill>
              <a:srgbClr val="006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370832" y="5289804"/>
            <a:ext cx="420624" cy="411480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⬟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983480" y="5193792"/>
            <a:ext cx="6446520" cy="585216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l"/>
            <a:r>
              <a:rPr sz="1030" b="0" i="0">
                <a:solidFill>
                  <a:srgbClr val="204665"/>
                </a:solidFill>
                <a:latin typeface="Aptos"/>
              </a:rPr>
              <a:t>Employee information requires appropriate access controls.</a:t>
            </a:r>
          </a:p>
        </p:txBody>
      </p:sp>
      <p:pic>
        <p:nvPicPr>
          <p:cNvPr id="78" name="Picture 77" descr="workforce_paperwork_cro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05840"/>
            <a:ext cx="3429000" cy="5166360"/>
          </a:xfrm>
          <a:prstGeom prst="rect">
            <a:avLst/>
          </a:prstGeom>
          <a:ln>
            <a:solidFill>
              <a:srgbClr val="97BED7"/>
            </a:solidFill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109728"/>
            <a:ext cx="10881360" cy="347472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l"/>
            <a:r>
              <a:rPr sz="2000" b="1" i="0">
                <a:solidFill>
                  <a:srgbClr val="08345B"/>
                </a:solidFill>
                <a:latin typeface="Aptos"/>
              </a:rPr>
              <a:t>Project Objectives &amp; Proposed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631168" y="109728"/>
            <a:ext cx="256032" cy="201168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r"/>
            <a:r>
              <a:rPr sz="800" b="1" i="0">
                <a:solidFill>
                  <a:srgbClr val="08345B"/>
                </a:solidFill>
                <a:latin typeface="Aptos"/>
              </a:rPr>
              <a:t>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8600" y="786384"/>
            <a:ext cx="11731752" cy="0"/>
          </a:xfrm>
          <a:prstGeom prst="line">
            <a:avLst/>
          </a:prstGeom>
          <a:ln w="10160">
            <a:solidFill>
              <a:srgbClr val="97BE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38912" y="960120"/>
            <a:ext cx="4023360" cy="320040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l"/>
            <a:r>
              <a:rPr sz="1300" b="1" i="0">
                <a:solidFill>
                  <a:srgbClr val="00A096"/>
                </a:solidFill>
                <a:latin typeface="Aptos"/>
              </a:rPr>
              <a:t>Our Objectives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353312"/>
            <a:ext cx="4251960" cy="5074920"/>
          </a:xfrm>
          <a:prstGeom prst="roundRect">
            <a:avLst>
              <a:gd name="adj" fmla="val 8000"/>
            </a:avLst>
          </a:prstGeom>
          <a:solidFill>
            <a:srgbClr val="E0F2FA"/>
          </a:solidFill>
          <a:ln w="10160">
            <a:solidFill>
              <a:srgbClr val="E0F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21792" y="1627632"/>
            <a:ext cx="329184" cy="329184"/>
          </a:xfrm>
          <a:prstGeom prst="ellipse">
            <a:avLst/>
          </a:prstGeom>
          <a:solidFill>
            <a:srgbClr val="00A096"/>
          </a:solidFill>
          <a:ln>
            <a:solidFill>
              <a:srgbClr val="006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632204"/>
            <a:ext cx="329184" cy="320040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1600200"/>
            <a:ext cx="3246120" cy="566928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l"/>
            <a:r>
              <a:rPr sz="950" b="0" i="0">
                <a:solidFill>
                  <a:srgbClr val="204665"/>
                </a:solidFill>
                <a:latin typeface="Aptos"/>
              </a:rPr>
              <a:t>Centralize important workforce operations.</a:t>
            </a:r>
          </a:p>
        </p:txBody>
      </p:sp>
      <p:sp>
        <p:nvSpPr>
          <p:cNvPr id="10" name="Oval 9"/>
          <p:cNvSpPr/>
          <p:nvPr/>
        </p:nvSpPr>
        <p:spPr>
          <a:xfrm>
            <a:off x="621792" y="2505456"/>
            <a:ext cx="329184" cy="329184"/>
          </a:xfrm>
          <a:prstGeom prst="ellipse">
            <a:avLst/>
          </a:prstGeom>
          <a:solidFill>
            <a:srgbClr val="00A096"/>
          </a:solidFill>
          <a:ln>
            <a:solidFill>
              <a:srgbClr val="006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2510028"/>
            <a:ext cx="329184" cy="320040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2478024"/>
            <a:ext cx="3246120" cy="566928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l"/>
            <a:r>
              <a:rPr sz="950" b="0" i="0">
                <a:solidFill>
                  <a:srgbClr val="204665"/>
                </a:solidFill>
                <a:latin typeface="Aptos"/>
              </a:rPr>
              <a:t>Organize attendance, leave, timesheet, and employee workflows.</a:t>
            </a:r>
          </a:p>
        </p:txBody>
      </p:sp>
      <p:sp>
        <p:nvSpPr>
          <p:cNvPr id="13" name="Oval 12"/>
          <p:cNvSpPr/>
          <p:nvPr/>
        </p:nvSpPr>
        <p:spPr>
          <a:xfrm>
            <a:off x="621792" y="3383280"/>
            <a:ext cx="329184" cy="329184"/>
          </a:xfrm>
          <a:prstGeom prst="ellipse">
            <a:avLst/>
          </a:prstGeom>
          <a:solidFill>
            <a:srgbClr val="00A096"/>
          </a:solidFill>
          <a:ln>
            <a:solidFill>
              <a:srgbClr val="006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3387852"/>
            <a:ext cx="329184" cy="320040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" y="3355848"/>
            <a:ext cx="3246120" cy="566928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l"/>
            <a:r>
              <a:rPr sz="950" b="0" i="0">
                <a:solidFill>
                  <a:srgbClr val="204665"/>
                </a:solidFill>
                <a:latin typeface="Aptos"/>
              </a:rPr>
              <a:t>Provide separate experiences for HR, managers, and employees.</a:t>
            </a:r>
          </a:p>
        </p:txBody>
      </p:sp>
      <p:sp>
        <p:nvSpPr>
          <p:cNvPr id="16" name="Oval 15"/>
          <p:cNvSpPr/>
          <p:nvPr/>
        </p:nvSpPr>
        <p:spPr>
          <a:xfrm>
            <a:off x="621792" y="4261104"/>
            <a:ext cx="329184" cy="329184"/>
          </a:xfrm>
          <a:prstGeom prst="ellipse">
            <a:avLst/>
          </a:prstGeom>
          <a:solidFill>
            <a:srgbClr val="00A096"/>
          </a:solidFill>
          <a:ln>
            <a:solidFill>
              <a:srgbClr val="006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4265676"/>
            <a:ext cx="329184" cy="320040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" y="4233672"/>
            <a:ext cx="3246120" cy="566928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l"/>
            <a:r>
              <a:rPr sz="950" b="0" i="0">
                <a:solidFill>
                  <a:srgbClr val="204665"/>
                </a:solidFill>
                <a:latin typeface="Aptos"/>
              </a:rPr>
              <a:t>Present workforce summaries and analytics.</a:t>
            </a:r>
          </a:p>
        </p:txBody>
      </p:sp>
      <p:sp>
        <p:nvSpPr>
          <p:cNvPr id="19" name="Oval 18"/>
          <p:cNvSpPr/>
          <p:nvPr/>
        </p:nvSpPr>
        <p:spPr>
          <a:xfrm>
            <a:off x="621792" y="5138928"/>
            <a:ext cx="329184" cy="329184"/>
          </a:xfrm>
          <a:prstGeom prst="ellipse">
            <a:avLst/>
          </a:prstGeom>
          <a:solidFill>
            <a:srgbClr val="00A096"/>
          </a:solidFill>
          <a:ln>
            <a:solidFill>
              <a:srgbClr val="006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" y="5143500"/>
            <a:ext cx="329184" cy="320040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" y="5111496"/>
            <a:ext cx="3246120" cy="566928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l"/>
            <a:r>
              <a:rPr sz="950" b="0" i="0">
                <a:solidFill>
                  <a:srgbClr val="204665"/>
                </a:solidFill>
                <a:latin typeface="Aptos"/>
              </a:rPr>
              <a:t>Provide AI-assisted workforce information and insights.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74920" y="960120"/>
            <a:ext cx="6583680" cy="320040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l"/>
            <a:r>
              <a:rPr sz="1300" b="1" i="0">
                <a:solidFill>
                  <a:srgbClr val="00A096"/>
                </a:solidFill>
                <a:latin typeface="Aptos"/>
              </a:rPr>
              <a:t>From Scattered Tools to One Platform</a:t>
            </a:r>
          </a:p>
        </p:txBody>
      </p:sp>
      <p:sp>
        <p:nvSpPr>
          <p:cNvPr id="23" name="Oval 22"/>
          <p:cNvSpPr/>
          <p:nvPr/>
        </p:nvSpPr>
        <p:spPr>
          <a:xfrm>
            <a:off x="5303520" y="1874519"/>
            <a:ext cx="822960" cy="822960"/>
          </a:xfrm>
          <a:prstGeom prst="ellipse">
            <a:avLst/>
          </a:prstGeom>
          <a:solidFill>
            <a:srgbClr val="006CBE"/>
          </a:solidFill>
          <a:ln>
            <a:solidFill>
              <a:srgbClr val="006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03520" y="1879091"/>
            <a:ext cx="822960" cy="813816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 algn="ctr"/>
            <a:r>
              <a:rPr sz="2300" b="1" i="0">
                <a:solidFill>
                  <a:srgbClr val="FFFFFF"/>
                </a:solidFill>
                <a:latin typeface="Aptos"/>
              </a:rPr>
              <a:t>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10328" y="2761488"/>
            <a:ext cx="1609344" cy="502920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ctr"/>
            <a:r>
              <a:rPr sz="1000" b="1" i="0">
                <a:solidFill>
                  <a:srgbClr val="08345B"/>
                </a:solidFill>
                <a:latin typeface="Aptos"/>
              </a:rPr>
              <a:t>Current State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2075688"/>
            <a:ext cx="685800" cy="320040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ctr"/>
            <a:r>
              <a:rPr sz="2100" b="1" i="0">
                <a:solidFill>
                  <a:srgbClr val="08345B"/>
                </a:solidFill>
                <a:latin typeface="Aptos"/>
              </a:rPr>
              <a:t>⟶</a:t>
            </a:r>
          </a:p>
        </p:txBody>
      </p:sp>
      <p:sp>
        <p:nvSpPr>
          <p:cNvPr id="27" name="Oval 26"/>
          <p:cNvSpPr/>
          <p:nvPr/>
        </p:nvSpPr>
        <p:spPr>
          <a:xfrm>
            <a:off x="7772400" y="1874519"/>
            <a:ext cx="822960" cy="822960"/>
          </a:xfrm>
          <a:prstGeom prst="ellipse">
            <a:avLst/>
          </a:prstGeom>
          <a:solidFill>
            <a:srgbClr val="00A096"/>
          </a:solidFill>
          <a:ln>
            <a:solidFill>
              <a:srgbClr val="006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0" y="1879091"/>
            <a:ext cx="822960" cy="813816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 algn="ctr"/>
            <a:r>
              <a:rPr sz="2300" b="1" i="0">
                <a:solidFill>
                  <a:srgbClr val="FFFFFF"/>
                </a:solidFill>
                <a:latin typeface="Aptos"/>
              </a:rPr>
              <a:t>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79207" y="2761488"/>
            <a:ext cx="1609344" cy="502920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ctr"/>
            <a:r>
              <a:rPr sz="1000" b="1" i="0">
                <a:solidFill>
                  <a:srgbClr val="08345B"/>
                </a:solidFill>
                <a:latin typeface="Aptos"/>
              </a:rPr>
              <a:t>Workforce AI
Centralized Platform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23959" y="2075688"/>
            <a:ext cx="685800" cy="320040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ctr"/>
            <a:r>
              <a:rPr sz="2100" b="1" i="0">
                <a:solidFill>
                  <a:srgbClr val="08345B"/>
                </a:solidFill>
                <a:latin typeface="Aptos"/>
              </a:rPr>
              <a:t>⟶</a:t>
            </a:r>
          </a:p>
        </p:txBody>
      </p:sp>
      <p:sp>
        <p:nvSpPr>
          <p:cNvPr id="31" name="Oval 30"/>
          <p:cNvSpPr/>
          <p:nvPr/>
        </p:nvSpPr>
        <p:spPr>
          <a:xfrm>
            <a:off x="10241280" y="1874519"/>
            <a:ext cx="822960" cy="822960"/>
          </a:xfrm>
          <a:prstGeom prst="ellipse">
            <a:avLst/>
          </a:prstGeom>
          <a:solidFill>
            <a:srgbClr val="009D77"/>
          </a:solidFill>
          <a:ln>
            <a:solidFill>
              <a:srgbClr val="006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41280" y="1879091"/>
            <a:ext cx="822960" cy="813816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 algn="ctr"/>
            <a:r>
              <a:rPr sz="2300" b="1" i="0">
                <a:solidFill>
                  <a:srgbClr val="FFFFFF"/>
                </a:solidFill>
                <a:latin typeface="Aptos"/>
              </a:rPr>
              <a:t>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48088" y="2761488"/>
            <a:ext cx="1609344" cy="502920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ctr"/>
            <a:r>
              <a:rPr sz="1000" b="1" i="0">
                <a:solidFill>
                  <a:srgbClr val="08345B"/>
                </a:solidFill>
                <a:latin typeface="Aptos"/>
              </a:rPr>
              <a:t>Better Visibility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10912" y="3675887"/>
            <a:ext cx="1965960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97B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102352" y="3803904"/>
            <a:ext cx="1783080" cy="1298448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ctr"/>
            <a:r>
              <a:rPr sz="900" b="0" i="0">
                <a:solidFill>
                  <a:srgbClr val="204665"/>
                </a:solidFill>
                <a:latin typeface="Aptos"/>
              </a:rPr>
              <a:t>Multiple tools
Manual processes
Limited visibility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296912" y="3675887"/>
            <a:ext cx="1965960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97B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88352" y="3803904"/>
            <a:ext cx="1783080" cy="1298448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ctr"/>
            <a:r>
              <a:rPr sz="900" b="0" i="0">
                <a:solidFill>
                  <a:srgbClr val="204665"/>
                </a:solidFill>
                <a:latin typeface="Aptos"/>
              </a:rPr>
              <a:t>Organized workflows
Role-based access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802368" y="3675887"/>
            <a:ext cx="1965960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97B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893808" y="3803904"/>
            <a:ext cx="1783080" cy="1298448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ctr"/>
            <a:r>
              <a:rPr sz="900" b="0" i="0">
                <a:solidFill>
                  <a:srgbClr val="204665"/>
                </a:solidFill>
                <a:latin typeface="Aptos"/>
              </a:rPr>
              <a:t>Workforce summaries
Analytics
Supported AI insights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66360" y="5623560"/>
            <a:ext cx="6400800" cy="320040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ctr"/>
            <a:r>
              <a:rPr sz="1000" b="1" i="0">
                <a:solidFill>
                  <a:srgbClr val="006CBE"/>
                </a:solidFill>
                <a:latin typeface="Aptos"/>
              </a:rPr>
              <a:t>Centralize workflows • Clarify access • Improve visibility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109728"/>
            <a:ext cx="10881360" cy="347472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l"/>
            <a:r>
              <a:rPr sz="2000" b="1" i="0">
                <a:solidFill>
                  <a:srgbClr val="08345B"/>
                </a:solidFill>
                <a:latin typeface="Aptos"/>
              </a:rPr>
              <a:t>Application Features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66344"/>
            <a:ext cx="10972800" cy="256032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l"/>
            <a:r>
              <a:rPr sz="950" b="0" i="0">
                <a:solidFill>
                  <a:srgbClr val="5B7D97"/>
                </a:solidFill>
                <a:latin typeface="Aptos"/>
              </a:rPr>
              <a:t>A complete suite of features for modern workforce management.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31168" y="109728"/>
            <a:ext cx="256032" cy="201168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r"/>
            <a:r>
              <a:rPr sz="800" b="1" i="0">
                <a:solidFill>
                  <a:srgbClr val="08345B"/>
                </a:solidFill>
                <a:latin typeface="Aptos"/>
              </a:rPr>
              <a:t>5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28600" y="786384"/>
            <a:ext cx="11731752" cy="0"/>
          </a:xfrm>
          <a:prstGeom prst="line">
            <a:avLst/>
          </a:prstGeom>
          <a:ln w="10160">
            <a:solidFill>
              <a:srgbClr val="97BE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84048" y="1033271"/>
            <a:ext cx="2157984" cy="18470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97B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84048" y="1033271"/>
            <a:ext cx="2157984" cy="73152"/>
          </a:xfrm>
          <a:prstGeom prst="roundRect">
            <a:avLst>
              <a:gd name="adj" fmla="val 8000"/>
            </a:avLst>
          </a:prstGeom>
          <a:solidFill>
            <a:srgbClr val="006CBE"/>
          </a:solidFill>
          <a:ln w="10160">
            <a:solidFill>
              <a:srgbClr val="006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93776" y="1179575"/>
            <a:ext cx="310896" cy="310896"/>
          </a:xfrm>
          <a:prstGeom prst="ellipse">
            <a:avLst/>
          </a:prstGeom>
          <a:solidFill>
            <a:srgbClr val="006CBE"/>
          </a:solidFill>
          <a:ln>
            <a:solidFill>
              <a:srgbClr val="006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3776" y="1184147"/>
            <a:ext cx="310896" cy="301752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1152143"/>
            <a:ext cx="1609343" cy="310896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l"/>
            <a:r>
              <a:rPr sz="900" b="1" i="0">
                <a:solidFill>
                  <a:srgbClr val="08345B"/>
                </a:solidFill>
                <a:latin typeface="Aptos"/>
              </a:rPr>
              <a:t>Organization Overview 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" y="1536192"/>
            <a:ext cx="1920239" cy="1289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60" b="0" i="0">
                <a:solidFill>
                  <a:srgbClr val="204665"/>
                </a:solidFill>
                <a:latin typeface="Aptos"/>
              </a:rPr>
              <a:t>Key metrics and at-a-glance view.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24912" y="1033271"/>
            <a:ext cx="2157984" cy="18470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97B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724912" y="1033271"/>
            <a:ext cx="2157984" cy="73152"/>
          </a:xfrm>
          <a:prstGeom prst="roundRect">
            <a:avLst>
              <a:gd name="adj" fmla="val 8000"/>
            </a:avLst>
          </a:prstGeom>
          <a:solidFill>
            <a:srgbClr val="00A096"/>
          </a:solidFill>
          <a:ln w="10160">
            <a:solidFill>
              <a:srgbClr val="00A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834640" y="1179575"/>
            <a:ext cx="310896" cy="310896"/>
          </a:xfrm>
          <a:prstGeom prst="ellipse">
            <a:avLst/>
          </a:prstGeom>
          <a:solidFill>
            <a:srgbClr val="00A096"/>
          </a:solidFill>
          <a:ln>
            <a:solidFill>
              <a:srgbClr val="006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34640" y="1184147"/>
            <a:ext cx="310896" cy="301752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1152143"/>
            <a:ext cx="1609343" cy="310896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l"/>
            <a:r>
              <a:rPr sz="900" b="1" i="0">
                <a:solidFill>
                  <a:srgbClr val="08345B"/>
                </a:solidFill>
                <a:latin typeface="Aptos"/>
              </a:rPr>
              <a:t>Workforce Directory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52928" y="1536192"/>
            <a:ext cx="1920239" cy="1289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60" b="0" i="0">
                <a:solidFill>
                  <a:srgbClr val="204665"/>
                </a:solidFill>
                <a:latin typeface="Aptos"/>
              </a:rPr>
              <a:t>Employee information and search.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65776" y="1033271"/>
            <a:ext cx="2157984" cy="18470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97B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065776" y="1033271"/>
            <a:ext cx="2157984" cy="73152"/>
          </a:xfrm>
          <a:prstGeom prst="roundRect">
            <a:avLst>
              <a:gd name="adj" fmla="val 8000"/>
            </a:avLst>
          </a:prstGeom>
          <a:solidFill>
            <a:srgbClr val="009D77"/>
          </a:solidFill>
          <a:ln w="10160">
            <a:solidFill>
              <a:srgbClr val="009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175504" y="1179575"/>
            <a:ext cx="310896" cy="310896"/>
          </a:xfrm>
          <a:prstGeom prst="ellipse">
            <a:avLst/>
          </a:prstGeom>
          <a:solidFill>
            <a:srgbClr val="009D77"/>
          </a:solidFill>
          <a:ln>
            <a:solidFill>
              <a:srgbClr val="006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75504" y="1184147"/>
            <a:ext cx="310896" cy="301752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41264" y="1152143"/>
            <a:ext cx="1609343" cy="310896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l"/>
            <a:r>
              <a:rPr sz="900" b="1" i="0">
                <a:solidFill>
                  <a:srgbClr val="08345B"/>
                </a:solidFill>
                <a:latin typeface="Aptos"/>
              </a:rPr>
              <a:t>Attendance &amp; Time Tracking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93792" y="1536192"/>
            <a:ext cx="1920239" cy="1289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60" b="0" i="0">
                <a:solidFill>
                  <a:srgbClr val="204665"/>
                </a:solidFill>
                <a:latin typeface="Aptos"/>
              </a:rPr>
              <a:t>Clock-in/out, overtime, and alerts.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06640" y="1033271"/>
            <a:ext cx="2157984" cy="18470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97B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406640" y="1033271"/>
            <a:ext cx="2157984" cy="73152"/>
          </a:xfrm>
          <a:prstGeom prst="roundRect">
            <a:avLst>
              <a:gd name="adj" fmla="val 8000"/>
            </a:avLst>
          </a:prstGeom>
          <a:solidFill>
            <a:srgbClr val="00A096"/>
          </a:solidFill>
          <a:ln w="10160">
            <a:solidFill>
              <a:srgbClr val="00A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516367" y="1179575"/>
            <a:ext cx="310896" cy="310896"/>
          </a:xfrm>
          <a:prstGeom prst="ellipse">
            <a:avLst/>
          </a:prstGeom>
          <a:solidFill>
            <a:srgbClr val="00A096"/>
          </a:solidFill>
          <a:ln>
            <a:solidFill>
              <a:srgbClr val="006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16367" y="1184147"/>
            <a:ext cx="310896" cy="301752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▣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82127" y="1152143"/>
            <a:ext cx="1609343" cy="310896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l"/>
            <a:r>
              <a:rPr sz="900" b="1" i="0">
                <a:solidFill>
                  <a:srgbClr val="08345B"/>
                </a:solidFill>
                <a:latin typeface="Aptos"/>
              </a:rPr>
              <a:t>Leave Management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34656" y="1536192"/>
            <a:ext cx="1920239" cy="1289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60" b="0" i="0">
                <a:solidFill>
                  <a:srgbClr val="204665"/>
                </a:solidFill>
                <a:latin typeface="Aptos"/>
              </a:rPr>
              <a:t>Requests, approvals, and balances.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747504" y="1033271"/>
            <a:ext cx="2157984" cy="18470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97B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747504" y="1033271"/>
            <a:ext cx="2157984" cy="73152"/>
          </a:xfrm>
          <a:prstGeom prst="roundRect">
            <a:avLst>
              <a:gd name="adj" fmla="val 8000"/>
            </a:avLst>
          </a:prstGeom>
          <a:solidFill>
            <a:srgbClr val="006CBE"/>
          </a:solidFill>
          <a:ln w="10160">
            <a:solidFill>
              <a:srgbClr val="006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857232" y="1179575"/>
            <a:ext cx="310896" cy="310896"/>
          </a:xfrm>
          <a:prstGeom prst="ellipse">
            <a:avLst/>
          </a:prstGeom>
          <a:solidFill>
            <a:srgbClr val="006CBE"/>
          </a:solidFill>
          <a:ln>
            <a:solidFill>
              <a:srgbClr val="006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857232" y="1184147"/>
            <a:ext cx="310896" cy="301752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22992" y="1152143"/>
            <a:ext cx="1609343" cy="310896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l"/>
            <a:r>
              <a:rPr sz="900" b="1" i="0">
                <a:solidFill>
                  <a:srgbClr val="08345B"/>
                </a:solidFill>
                <a:latin typeface="Aptos"/>
              </a:rPr>
              <a:t>Shift Management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75520" y="1536192"/>
            <a:ext cx="1920239" cy="1289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60" b="0" i="0">
                <a:solidFill>
                  <a:srgbClr val="204665"/>
                </a:solidFill>
                <a:latin typeface="Aptos"/>
              </a:rPr>
              <a:t>Scheduling and shift allocation.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84048" y="3090672"/>
            <a:ext cx="2157984" cy="18470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97B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384048" y="3090672"/>
            <a:ext cx="2157984" cy="73152"/>
          </a:xfrm>
          <a:prstGeom prst="roundRect">
            <a:avLst>
              <a:gd name="adj" fmla="val 8000"/>
            </a:avLst>
          </a:prstGeom>
          <a:solidFill>
            <a:srgbClr val="006CBE"/>
          </a:solidFill>
          <a:ln w="10160">
            <a:solidFill>
              <a:srgbClr val="006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93776" y="3236976"/>
            <a:ext cx="310896" cy="310896"/>
          </a:xfrm>
          <a:prstGeom prst="ellipse">
            <a:avLst/>
          </a:prstGeom>
          <a:solidFill>
            <a:srgbClr val="006CBE"/>
          </a:solidFill>
          <a:ln>
            <a:solidFill>
              <a:srgbClr val="006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93776" y="3241548"/>
            <a:ext cx="310896" cy="301752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▤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9536" y="3209544"/>
            <a:ext cx="1609343" cy="310896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l"/>
            <a:r>
              <a:rPr sz="900" b="1" i="0">
                <a:solidFill>
                  <a:srgbClr val="08345B"/>
                </a:solidFill>
                <a:latin typeface="Aptos"/>
              </a:rPr>
              <a:t>Weekly Timesheets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2064" y="3593591"/>
            <a:ext cx="1920239" cy="1289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60" b="0" i="0">
                <a:solidFill>
                  <a:srgbClr val="204665"/>
                </a:solidFill>
                <a:latin typeface="Aptos"/>
              </a:rPr>
              <a:t>Submit, review, and track hours.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724912" y="3090672"/>
            <a:ext cx="2157984" cy="18470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97B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2724912" y="3090672"/>
            <a:ext cx="2157984" cy="73152"/>
          </a:xfrm>
          <a:prstGeom prst="roundRect">
            <a:avLst>
              <a:gd name="adj" fmla="val 8000"/>
            </a:avLst>
          </a:prstGeom>
          <a:solidFill>
            <a:srgbClr val="00A096"/>
          </a:solidFill>
          <a:ln w="10160">
            <a:solidFill>
              <a:srgbClr val="00A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2834640" y="3236976"/>
            <a:ext cx="310896" cy="310896"/>
          </a:xfrm>
          <a:prstGeom prst="ellipse">
            <a:avLst/>
          </a:prstGeom>
          <a:solidFill>
            <a:srgbClr val="00A096"/>
          </a:solidFill>
          <a:ln>
            <a:solidFill>
              <a:srgbClr val="006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834640" y="3241548"/>
            <a:ext cx="310896" cy="301752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₹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00400" y="3209544"/>
            <a:ext cx="1609343" cy="310896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l"/>
            <a:r>
              <a:rPr sz="900" b="1" i="0">
                <a:solidFill>
                  <a:srgbClr val="08345B"/>
                </a:solidFill>
                <a:latin typeface="Aptos"/>
              </a:rPr>
              <a:t>Payroll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852928" y="3593591"/>
            <a:ext cx="1920239" cy="1289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60" b="0" i="0">
                <a:solidFill>
                  <a:srgbClr val="204665"/>
                </a:solidFill>
                <a:latin typeface="Aptos"/>
              </a:rPr>
              <a:t>Calculations and payroll-related workflows.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065776" y="3090672"/>
            <a:ext cx="2157984" cy="18470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97B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5065776" y="3090672"/>
            <a:ext cx="2157984" cy="73152"/>
          </a:xfrm>
          <a:prstGeom prst="roundRect">
            <a:avLst>
              <a:gd name="adj" fmla="val 8000"/>
            </a:avLst>
          </a:prstGeom>
          <a:solidFill>
            <a:srgbClr val="664FBF"/>
          </a:solidFill>
          <a:ln w="10160">
            <a:solidFill>
              <a:srgbClr val="664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5175504" y="3236976"/>
            <a:ext cx="310896" cy="310896"/>
          </a:xfrm>
          <a:prstGeom prst="ellipse">
            <a:avLst/>
          </a:prstGeom>
          <a:solidFill>
            <a:srgbClr val="664FBF"/>
          </a:solidFill>
          <a:ln>
            <a:solidFill>
              <a:srgbClr val="006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175504" y="3241548"/>
            <a:ext cx="310896" cy="301752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◎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541264" y="3209544"/>
            <a:ext cx="1609343" cy="310896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l"/>
            <a:r>
              <a:rPr sz="900" b="1" i="0">
                <a:solidFill>
                  <a:srgbClr val="08345B"/>
                </a:solidFill>
                <a:latin typeface="Aptos"/>
              </a:rPr>
              <a:t>Performance Management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93792" y="3593591"/>
            <a:ext cx="1920239" cy="1289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60" b="0" i="0">
                <a:solidFill>
                  <a:srgbClr val="204665"/>
                </a:solidFill>
                <a:latin typeface="Aptos"/>
              </a:rPr>
              <a:t>Reviews and ratings.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406640" y="3090672"/>
            <a:ext cx="2157984" cy="18470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97B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7406640" y="3090672"/>
            <a:ext cx="2157984" cy="73152"/>
          </a:xfrm>
          <a:prstGeom prst="roundRect">
            <a:avLst>
              <a:gd name="adj" fmla="val 8000"/>
            </a:avLst>
          </a:prstGeom>
          <a:solidFill>
            <a:srgbClr val="006CBE"/>
          </a:solidFill>
          <a:ln w="10160">
            <a:solidFill>
              <a:srgbClr val="006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516367" y="3236976"/>
            <a:ext cx="310896" cy="310896"/>
          </a:xfrm>
          <a:prstGeom prst="ellipse">
            <a:avLst/>
          </a:prstGeom>
          <a:solidFill>
            <a:srgbClr val="006CBE"/>
          </a:solidFill>
          <a:ln>
            <a:solidFill>
              <a:srgbClr val="006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16367" y="3241548"/>
            <a:ext cx="310896" cy="301752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⌁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882127" y="3209544"/>
            <a:ext cx="1609343" cy="310896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l"/>
            <a:r>
              <a:rPr sz="900" b="1" i="0">
                <a:solidFill>
                  <a:srgbClr val="08345B"/>
                </a:solidFill>
                <a:latin typeface="Aptos"/>
              </a:rPr>
              <a:t>Analytics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534656" y="3593591"/>
            <a:ext cx="1920239" cy="1289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60" b="0" i="0">
                <a:solidFill>
                  <a:srgbClr val="204665"/>
                </a:solidFill>
                <a:latin typeface="Aptos"/>
              </a:rPr>
              <a:t>Charts, trends, and insights.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747504" y="3090672"/>
            <a:ext cx="2157984" cy="18470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97B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9747504" y="3090672"/>
            <a:ext cx="2157984" cy="73152"/>
          </a:xfrm>
          <a:prstGeom prst="roundRect">
            <a:avLst>
              <a:gd name="adj" fmla="val 8000"/>
            </a:avLst>
          </a:prstGeom>
          <a:solidFill>
            <a:srgbClr val="664FBF"/>
          </a:solidFill>
          <a:ln w="10160">
            <a:solidFill>
              <a:srgbClr val="664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9857232" y="3236976"/>
            <a:ext cx="310896" cy="310896"/>
          </a:xfrm>
          <a:prstGeom prst="ellipse">
            <a:avLst/>
          </a:prstGeom>
          <a:solidFill>
            <a:srgbClr val="664FBF"/>
          </a:solidFill>
          <a:ln>
            <a:solidFill>
              <a:srgbClr val="006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857232" y="3241548"/>
            <a:ext cx="310896" cy="301752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✧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222992" y="3209544"/>
            <a:ext cx="1609343" cy="310896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l"/>
            <a:r>
              <a:rPr sz="900" b="1" i="0">
                <a:solidFill>
                  <a:srgbClr val="08345B"/>
                </a:solidFill>
                <a:latin typeface="Aptos"/>
              </a:rPr>
              <a:t>AI Assistant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875520" y="3593591"/>
            <a:ext cx="1920239" cy="1289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60" b="0" i="0">
                <a:solidFill>
                  <a:srgbClr val="204665"/>
                </a:solidFill>
                <a:latin typeface="Aptos"/>
              </a:rPr>
              <a:t>Ask questions and get supported insights.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320040" y="6355080"/>
            <a:ext cx="11539728" cy="201168"/>
          </a:xfrm>
          <a:prstGeom prst="roundRect">
            <a:avLst>
              <a:gd name="adj" fmla="val 8000"/>
            </a:avLst>
          </a:prstGeom>
          <a:solidFill>
            <a:srgbClr val="08345B"/>
          </a:solidFill>
          <a:ln w="10160">
            <a:solidFill>
              <a:srgbClr val="083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11480" y="6364224"/>
            <a:ext cx="11338560" cy="164592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ptos"/>
              </a:rPr>
              <a:t>♟  Notifications &amp; Audit Logs   |   Keep everyone informed and ensure transparency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109728"/>
            <a:ext cx="10881360" cy="347472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l"/>
            <a:r>
              <a:rPr sz="2000" b="1" i="0">
                <a:solidFill>
                  <a:srgbClr val="08345B"/>
                </a:solidFill>
                <a:latin typeface="Aptos"/>
              </a:rPr>
              <a:t>Three User Roles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66344"/>
            <a:ext cx="10972800" cy="256032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l"/>
            <a:r>
              <a:rPr sz="950" b="0" i="0">
                <a:solidFill>
                  <a:srgbClr val="5B7D97"/>
                </a:solidFill>
                <a:latin typeface="Aptos"/>
              </a:rPr>
              <a:t>Each role has a tailored experience and access to relevant information.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31168" y="109728"/>
            <a:ext cx="256032" cy="201168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r"/>
            <a:r>
              <a:rPr sz="800" b="1" i="0">
                <a:solidFill>
                  <a:srgbClr val="08345B"/>
                </a:solidFill>
                <a:latin typeface="Aptos"/>
              </a:rPr>
              <a:t>6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28600" y="786384"/>
            <a:ext cx="11731752" cy="0"/>
          </a:xfrm>
          <a:prstGeom prst="line">
            <a:avLst/>
          </a:prstGeom>
          <a:ln w="10160">
            <a:solidFill>
              <a:srgbClr val="97BE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57200" y="1234440"/>
            <a:ext cx="3566160" cy="4434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97B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234440"/>
            <a:ext cx="3566160" cy="658368"/>
          </a:xfrm>
          <a:prstGeom prst="roundRect">
            <a:avLst>
              <a:gd name="adj" fmla="val 8000"/>
            </a:avLst>
          </a:prstGeom>
          <a:solidFill>
            <a:srgbClr val="006CBE"/>
          </a:solidFill>
          <a:ln w="10160">
            <a:solidFill>
              <a:srgbClr val="006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21792" y="1389888"/>
            <a:ext cx="347472" cy="347472"/>
          </a:xfrm>
          <a:prstGeom prst="ellipse">
            <a:avLst/>
          </a:prstGeom>
          <a:solidFill>
            <a:srgbClr val="FFFFFF"/>
          </a:solidFill>
          <a:ln>
            <a:solidFill>
              <a:srgbClr val="006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1394460"/>
            <a:ext cx="347472" cy="338328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1362456"/>
            <a:ext cx="2743200" cy="384048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ptos"/>
              </a:rPr>
              <a:t>HR / Administrator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2194560"/>
            <a:ext cx="64008" cy="64008"/>
          </a:xfrm>
          <a:prstGeom prst="ellipse">
            <a:avLst/>
          </a:prstGeom>
          <a:solidFill>
            <a:srgbClr val="006CBE"/>
          </a:solidFill>
          <a:ln>
            <a:solidFill>
              <a:srgbClr val="006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2121408"/>
            <a:ext cx="3008376" cy="64922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930" b="0" i="0">
                <a:solidFill>
                  <a:srgbClr val="204665"/>
                </a:solidFill>
                <a:latin typeface="Aptos"/>
              </a:rPr>
              <a:t>Organization-level workforce overview.</a:t>
            </a:r>
          </a:p>
        </p:txBody>
      </p:sp>
      <p:sp>
        <p:nvSpPr>
          <p:cNvPr id="13" name="Oval 12"/>
          <p:cNvSpPr/>
          <p:nvPr/>
        </p:nvSpPr>
        <p:spPr>
          <a:xfrm>
            <a:off x="658368" y="2862072"/>
            <a:ext cx="64008" cy="64008"/>
          </a:xfrm>
          <a:prstGeom prst="ellipse">
            <a:avLst/>
          </a:prstGeom>
          <a:solidFill>
            <a:srgbClr val="006CBE"/>
          </a:solidFill>
          <a:ln>
            <a:solidFill>
              <a:srgbClr val="006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2788920"/>
            <a:ext cx="3008376" cy="64922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930" b="0" i="0">
                <a:solidFill>
                  <a:srgbClr val="204665"/>
                </a:solidFill>
                <a:latin typeface="Aptos"/>
              </a:rPr>
              <a:t>Workforce administration and employee information.</a:t>
            </a:r>
          </a:p>
        </p:txBody>
      </p:sp>
      <p:sp>
        <p:nvSpPr>
          <p:cNvPr id="15" name="Oval 14"/>
          <p:cNvSpPr/>
          <p:nvPr/>
        </p:nvSpPr>
        <p:spPr>
          <a:xfrm>
            <a:off x="658368" y="3529584"/>
            <a:ext cx="64008" cy="64008"/>
          </a:xfrm>
          <a:prstGeom prst="ellipse">
            <a:avLst/>
          </a:prstGeom>
          <a:solidFill>
            <a:srgbClr val="006CBE"/>
          </a:solidFill>
          <a:ln>
            <a:solidFill>
              <a:srgbClr val="006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3456432"/>
            <a:ext cx="3008376" cy="64922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930" b="0" i="0">
                <a:solidFill>
                  <a:srgbClr val="204665"/>
                </a:solidFill>
                <a:latin typeface="Aptos"/>
              </a:rPr>
              <a:t>Access to relevant reports and administrative workflows.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0" y="1234440"/>
            <a:ext cx="3566160" cy="4434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97B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297680" y="1234440"/>
            <a:ext cx="3566160" cy="658368"/>
          </a:xfrm>
          <a:prstGeom prst="roundRect">
            <a:avLst>
              <a:gd name="adj" fmla="val 8000"/>
            </a:avLst>
          </a:prstGeom>
          <a:solidFill>
            <a:srgbClr val="00A096"/>
          </a:solidFill>
          <a:ln w="10160">
            <a:solidFill>
              <a:srgbClr val="00A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462272" y="1389888"/>
            <a:ext cx="347472" cy="347472"/>
          </a:xfrm>
          <a:prstGeom prst="ellipse">
            <a:avLst/>
          </a:prstGeom>
          <a:solidFill>
            <a:srgbClr val="FFFFFF"/>
          </a:solidFill>
          <a:ln>
            <a:solidFill>
              <a:srgbClr val="006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62272" y="1394460"/>
            <a:ext cx="347472" cy="338328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19472" y="1362456"/>
            <a:ext cx="2743200" cy="384048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ptos"/>
              </a:rPr>
              <a:t>Manager</a:t>
            </a:r>
          </a:p>
        </p:txBody>
      </p:sp>
      <p:sp>
        <p:nvSpPr>
          <p:cNvPr id="22" name="Oval 21"/>
          <p:cNvSpPr/>
          <p:nvPr/>
        </p:nvSpPr>
        <p:spPr>
          <a:xfrm>
            <a:off x="4498848" y="2194560"/>
            <a:ext cx="64008" cy="64008"/>
          </a:xfrm>
          <a:prstGeom prst="ellipse">
            <a:avLst/>
          </a:prstGeom>
          <a:solidFill>
            <a:srgbClr val="00A096"/>
          </a:solidFill>
          <a:ln>
            <a:solidFill>
              <a:srgbClr val="00A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45152" y="2121408"/>
            <a:ext cx="3008376" cy="53949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930" b="0" i="0">
                <a:solidFill>
                  <a:srgbClr val="204665"/>
                </a:solidFill>
                <a:latin typeface="Aptos"/>
              </a:rPr>
              <a:t>Team-related workforce visibility.</a:t>
            </a:r>
          </a:p>
        </p:txBody>
      </p:sp>
      <p:sp>
        <p:nvSpPr>
          <p:cNvPr id="24" name="Oval 23"/>
          <p:cNvSpPr/>
          <p:nvPr/>
        </p:nvSpPr>
        <p:spPr>
          <a:xfrm>
            <a:off x="4498848" y="2752344"/>
            <a:ext cx="64008" cy="64008"/>
          </a:xfrm>
          <a:prstGeom prst="ellipse">
            <a:avLst/>
          </a:prstGeom>
          <a:solidFill>
            <a:srgbClr val="00A096"/>
          </a:solidFill>
          <a:ln>
            <a:solidFill>
              <a:srgbClr val="00A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45152" y="2679191"/>
            <a:ext cx="3008376" cy="53949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930" b="0" i="0">
                <a:solidFill>
                  <a:srgbClr val="204665"/>
                </a:solidFill>
                <a:latin typeface="Aptos"/>
              </a:rPr>
              <a:t>Attendance and leave review.</a:t>
            </a:r>
          </a:p>
        </p:txBody>
      </p:sp>
      <p:sp>
        <p:nvSpPr>
          <p:cNvPr id="26" name="Oval 25"/>
          <p:cNvSpPr/>
          <p:nvPr/>
        </p:nvSpPr>
        <p:spPr>
          <a:xfrm>
            <a:off x="4498848" y="3310127"/>
            <a:ext cx="64008" cy="64008"/>
          </a:xfrm>
          <a:prstGeom prst="ellipse">
            <a:avLst/>
          </a:prstGeom>
          <a:solidFill>
            <a:srgbClr val="00A096"/>
          </a:solidFill>
          <a:ln>
            <a:solidFill>
              <a:srgbClr val="00A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45152" y="3236975"/>
            <a:ext cx="3008376" cy="53949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930" b="0" i="0">
                <a:solidFill>
                  <a:srgbClr val="204665"/>
                </a:solidFill>
                <a:latin typeface="Aptos"/>
              </a:rPr>
              <a:t>Shift and timesheet workflows.</a:t>
            </a:r>
          </a:p>
        </p:txBody>
      </p:sp>
      <p:sp>
        <p:nvSpPr>
          <p:cNvPr id="28" name="Oval 27"/>
          <p:cNvSpPr/>
          <p:nvPr/>
        </p:nvSpPr>
        <p:spPr>
          <a:xfrm>
            <a:off x="4498848" y="3867911"/>
            <a:ext cx="64008" cy="64008"/>
          </a:xfrm>
          <a:prstGeom prst="ellipse">
            <a:avLst/>
          </a:prstGeom>
          <a:solidFill>
            <a:srgbClr val="00A096"/>
          </a:solidFill>
          <a:ln>
            <a:solidFill>
              <a:srgbClr val="00A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45152" y="3794759"/>
            <a:ext cx="3008376" cy="53949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930" b="0" i="0">
                <a:solidFill>
                  <a:srgbClr val="204665"/>
                </a:solidFill>
                <a:latin typeface="Aptos"/>
              </a:rPr>
              <a:t>Team performance activities where permitted.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38160" y="1234440"/>
            <a:ext cx="3566160" cy="4434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97B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138160" y="1234440"/>
            <a:ext cx="3566160" cy="658368"/>
          </a:xfrm>
          <a:prstGeom prst="roundRect">
            <a:avLst>
              <a:gd name="adj" fmla="val 8000"/>
            </a:avLst>
          </a:prstGeom>
          <a:solidFill>
            <a:srgbClr val="664FBF"/>
          </a:solidFill>
          <a:ln w="10160">
            <a:solidFill>
              <a:srgbClr val="664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302752" y="1389888"/>
            <a:ext cx="347472" cy="347472"/>
          </a:xfrm>
          <a:prstGeom prst="ellipse">
            <a:avLst/>
          </a:prstGeom>
          <a:solidFill>
            <a:srgbClr val="FFFFFF"/>
          </a:solidFill>
          <a:ln>
            <a:solidFill>
              <a:srgbClr val="006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02752" y="1394460"/>
            <a:ext cx="347472" cy="338328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♟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59952" y="1362456"/>
            <a:ext cx="2743200" cy="384048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ptos"/>
              </a:rPr>
              <a:t>Employee</a:t>
            </a:r>
          </a:p>
        </p:txBody>
      </p:sp>
      <p:sp>
        <p:nvSpPr>
          <p:cNvPr id="35" name="Oval 34"/>
          <p:cNvSpPr/>
          <p:nvPr/>
        </p:nvSpPr>
        <p:spPr>
          <a:xfrm>
            <a:off x="8339328" y="2194560"/>
            <a:ext cx="64008" cy="64008"/>
          </a:xfrm>
          <a:prstGeom prst="ellipse">
            <a:avLst/>
          </a:prstGeom>
          <a:solidFill>
            <a:srgbClr val="664FBF"/>
          </a:solidFill>
          <a:ln>
            <a:solidFill>
              <a:srgbClr val="664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85632" y="2121408"/>
            <a:ext cx="3008376" cy="53949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930" b="0" i="0">
                <a:solidFill>
                  <a:srgbClr val="204665"/>
                </a:solidFill>
                <a:latin typeface="Aptos"/>
              </a:rPr>
              <a:t>Personal workforce information.</a:t>
            </a:r>
          </a:p>
        </p:txBody>
      </p:sp>
      <p:sp>
        <p:nvSpPr>
          <p:cNvPr id="37" name="Oval 36"/>
          <p:cNvSpPr/>
          <p:nvPr/>
        </p:nvSpPr>
        <p:spPr>
          <a:xfrm>
            <a:off x="8339328" y="2752344"/>
            <a:ext cx="64008" cy="64008"/>
          </a:xfrm>
          <a:prstGeom prst="ellipse">
            <a:avLst/>
          </a:prstGeom>
          <a:solidFill>
            <a:srgbClr val="664FBF"/>
          </a:solidFill>
          <a:ln>
            <a:solidFill>
              <a:srgbClr val="664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85632" y="2679191"/>
            <a:ext cx="3008376" cy="53949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930" b="0" i="0">
                <a:solidFill>
                  <a:srgbClr val="204665"/>
                </a:solidFill>
                <a:latin typeface="Aptos"/>
              </a:rPr>
              <a:t>Attendance and time tracking.</a:t>
            </a:r>
          </a:p>
        </p:txBody>
      </p:sp>
      <p:sp>
        <p:nvSpPr>
          <p:cNvPr id="39" name="Oval 38"/>
          <p:cNvSpPr/>
          <p:nvPr/>
        </p:nvSpPr>
        <p:spPr>
          <a:xfrm>
            <a:off x="8339328" y="3310127"/>
            <a:ext cx="64008" cy="64008"/>
          </a:xfrm>
          <a:prstGeom prst="ellipse">
            <a:avLst/>
          </a:prstGeom>
          <a:solidFill>
            <a:srgbClr val="664FBF"/>
          </a:solidFill>
          <a:ln>
            <a:solidFill>
              <a:srgbClr val="664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85632" y="3236975"/>
            <a:ext cx="3008376" cy="53949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930" b="0" i="0">
                <a:solidFill>
                  <a:srgbClr val="204665"/>
                </a:solidFill>
                <a:latin typeface="Aptos"/>
              </a:rPr>
              <a:t>Leave requests.</a:t>
            </a:r>
          </a:p>
        </p:txBody>
      </p:sp>
      <p:sp>
        <p:nvSpPr>
          <p:cNvPr id="41" name="Oval 40"/>
          <p:cNvSpPr/>
          <p:nvPr/>
        </p:nvSpPr>
        <p:spPr>
          <a:xfrm>
            <a:off x="8339328" y="3867911"/>
            <a:ext cx="64008" cy="64008"/>
          </a:xfrm>
          <a:prstGeom prst="ellipse">
            <a:avLst/>
          </a:prstGeom>
          <a:solidFill>
            <a:srgbClr val="664FBF"/>
          </a:solidFill>
          <a:ln>
            <a:solidFill>
              <a:srgbClr val="664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85632" y="3794759"/>
            <a:ext cx="3008376" cy="53949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930" b="0" i="0">
                <a:solidFill>
                  <a:srgbClr val="204665"/>
                </a:solidFill>
                <a:latin typeface="Aptos"/>
              </a:rPr>
              <a:t>Timesheets and personal dashboard information.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66928" y="5870448"/>
            <a:ext cx="11045952" cy="475488"/>
          </a:xfrm>
          <a:prstGeom prst="roundRect">
            <a:avLst>
              <a:gd name="adj" fmla="val 8000"/>
            </a:avLst>
          </a:prstGeom>
          <a:solidFill>
            <a:srgbClr val="E0F2FA"/>
          </a:solidFill>
          <a:ln w="10160">
            <a:solidFill>
              <a:srgbClr val="E0F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777240" y="5952744"/>
            <a:ext cx="292608" cy="292608"/>
          </a:xfrm>
          <a:prstGeom prst="ellipse">
            <a:avLst/>
          </a:prstGeom>
          <a:solidFill>
            <a:srgbClr val="006CBE"/>
          </a:solidFill>
          <a:ln>
            <a:solidFill>
              <a:srgbClr val="006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77240" y="5957316"/>
            <a:ext cx="292608" cy="283464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▣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234440" y="5925312"/>
            <a:ext cx="9966960" cy="329184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l"/>
            <a:r>
              <a:rPr sz="1000" b="1" i="0">
                <a:solidFill>
                  <a:srgbClr val="08345B"/>
                </a:solidFill>
                <a:latin typeface="Aptos"/>
              </a:rPr>
              <a:t>Available actions and information depend on role permissions.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109728"/>
            <a:ext cx="10881360" cy="347472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l"/>
            <a:r>
              <a:rPr sz="2000" b="1" i="0">
                <a:solidFill>
                  <a:srgbClr val="08345B"/>
                </a:solidFill>
                <a:latin typeface="Aptos"/>
              </a:rPr>
              <a:t>Dashboard, Analytics and AI Assistant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66344"/>
            <a:ext cx="10972800" cy="256032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l"/>
            <a:r>
              <a:rPr sz="950" b="0" i="0">
                <a:solidFill>
                  <a:srgbClr val="5B7D97"/>
                </a:solidFill>
                <a:latin typeface="Aptos"/>
              </a:rPr>
              <a:t>From real-time data to intelligent insights.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31168" y="109728"/>
            <a:ext cx="256032" cy="201168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r"/>
            <a:r>
              <a:rPr sz="800" b="1" i="0">
                <a:solidFill>
                  <a:srgbClr val="08345B"/>
                </a:solidFill>
                <a:latin typeface="Aptos"/>
              </a:rPr>
              <a:t>7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28600" y="786384"/>
            <a:ext cx="11731752" cy="0"/>
          </a:xfrm>
          <a:prstGeom prst="line">
            <a:avLst/>
          </a:prstGeom>
          <a:ln w="10160">
            <a:solidFill>
              <a:srgbClr val="97BE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84048" y="1024128"/>
            <a:ext cx="3566160" cy="4937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97B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84048" y="1024128"/>
            <a:ext cx="3566160" cy="438912"/>
          </a:xfrm>
          <a:prstGeom prst="roundRect">
            <a:avLst>
              <a:gd name="adj" fmla="val 8000"/>
            </a:avLst>
          </a:prstGeom>
          <a:solidFill>
            <a:srgbClr val="006CBE"/>
          </a:solidFill>
          <a:ln w="10160">
            <a:solidFill>
              <a:srgbClr val="006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3776" y="1051560"/>
            <a:ext cx="3346704" cy="347472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Dashboard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618488"/>
            <a:ext cx="3200400" cy="1965960"/>
          </a:xfrm>
          <a:prstGeom prst="roundRect">
            <a:avLst>
              <a:gd name="adj" fmla="val 8000"/>
            </a:avLst>
          </a:prstGeom>
          <a:solidFill>
            <a:srgbClr val="FAFDFF"/>
          </a:solidFill>
          <a:ln w="10160">
            <a:solidFill>
              <a:srgbClr val="C8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" y="1673352"/>
            <a:ext cx="3090672" cy="182880"/>
          </a:xfrm>
          <a:prstGeom prst="roundRect">
            <a:avLst>
              <a:gd name="adj" fmla="val 8000"/>
            </a:avLst>
          </a:prstGeom>
          <a:solidFill>
            <a:srgbClr val="08345B"/>
          </a:solidFill>
          <a:ln w="10160">
            <a:solidFill>
              <a:srgbClr val="083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673352"/>
            <a:ext cx="2926080" cy="182880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l"/>
            <a:r>
              <a:rPr sz="650" b="1" i="0">
                <a:solidFill>
                  <a:srgbClr val="FFFFFF"/>
                </a:solidFill>
                <a:latin typeface="Aptos"/>
              </a:rPr>
              <a:t>Workforce AI   •   Overview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" y="1929384"/>
            <a:ext cx="950975" cy="3840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97B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1947672"/>
            <a:ext cx="896111" cy="118872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ctr"/>
            <a:r>
              <a:rPr sz="550" b="1" i="0">
                <a:solidFill>
                  <a:srgbClr val="5B7D97"/>
                </a:solidFill>
                <a:latin typeface="Aptos"/>
              </a:rPr>
              <a:t>Employees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" y="2066543"/>
            <a:ext cx="896111" cy="182880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ctr"/>
            <a:r>
              <a:rPr sz="1000" b="1" i="0">
                <a:solidFill>
                  <a:srgbClr val="006CBE"/>
                </a:solidFill>
                <a:latin typeface="Aptos"/>
              </a:rPr>
              <a:t>248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664207" y="1929384"/>
            <a:ext cx="950975" cy="3840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97B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91639" y="1947672"/>
            <a:ext cx="896111" cy="118872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ctr"/>
            <a:r>
              <a:rPr sz="550" b="1" i="0">
                <a:solidFill>
                  <a:srgbClr val="5B7D97"/>
                </a:solidFill>
                <a:latin typeface="Aptos"/>
              </a:rPr>
              <a:t>Present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39" y="2066543"/>
            <a:ext cx="896111" cy="182880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ctr"/>
            <a:r>
              <a:rPr sz="1000" b="1" i="0">
                <a:solidFill>
                  <a:srgbClr val="00A096"/>
                </a:solidFill>
                <a:latin typeface="Aptos"/>
              </a:rPr>
              <a:t>231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679191" y="1929384"/>
            <a:ext cx="950975" cy="3840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97B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06623" y="1947672"/>
            <a:ext cx="896111" cy="118872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ctr"/>
            <a:r>
              <a:rPr sz="550" b="1" i="0">
                <a:solidFill>
                  <a:srgbClr val="5B7D97"/>
                </a:solidFill>
                <a:latin typeface="Aptos"/>
              </a:rPr>
              <a:t>On Leave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06623" y="2066543"/>
            <a:ext cx="896111" cy="182880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ctr"/>
            <a:r>
              <a:rPr sz="1000" b="1" i="0">
                <a:solidFill>
                  <a:srgbClr val="664FBF"/>
                </a:solidFill>
                <a:latin typeface="Aptos"/>
              </a:rPr>
              <a:t>17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2377440"/>
            <a:ext cx="1792224" cy="111556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97B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4088" y="2395728"/>
            <a:ext cx="1600200" cy="146304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l"/>
            <a:r>
              <a:rPr sz="650" b="1" i="0">
                <a:solidFill>
                  <a:srgbClr val="08345B"/>
                </a:solidFill>
                <a:latin typeface="Aptos"/>
              </a:rPr>
              <a:t>Weekly attendance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86384" y="3191256"/>
            <a:ext cx="91440" cy="228600"/>
          </a:xfrm>
          <a:prstGeom prst="roundRect">
            <a:avLst>
              <a:gd name="adj" fmla="val 8000"/>
            </a:avLst>
          </a:prstGeom>
          <a:solidFill>
            <a:srgbClr val="006CBE"/>
          </a:solidFill>
          <a:ln w="10160">
            <a:solidFill>
              <a:srgbClr val="00A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26414" y="3035808"/>
            <a:ext cx="91440" cy="384048"/>
          </a:xfrm>
          <a:prstGeom prst="roundRect">
            <a:avLst>
              <a:gd name="adj" fmla="val 8000"/>
            </a:avLst>
          </a:prstGeom>
          <a:solidFill>
            <a:srgbClr val="00A096"/>
          </a:solidFill>
          <a:ln w="10160">
            <a:solidFill>
              <a:srgbClr val="00A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266444" y="3118103"/>
            <a:ext cx="91440" cy="301752"/>
          </a:xfrm>
          <a:prstGeom prst="roundRect">
            <a:avLst>
              <a:gd name="adj" fmla="val 8000"/>
            </a:avLst>
          </a:prstGeom>
          <a:solidFill>
            <a:srgbClr val="006CBE"/>
          </a:solidFill>
          <a:ln w="10160">
            <a:solidFill>
              <a:srgbClr val="00A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506474" y="2916935"/>
            <a:ext cx="91440" cy="502920"/>
          </a:xfrm>
          <a:prstGeom prst="roundRect">
            <a:avLst>
              <a:gd name="adj" fmla="val 8000"/>
            </a:avLst>
          </a:prstGeom>
          <a:solidFill>
            <a:srgbClr val="00A096"/>
          </a:solidFill>
          <a:ln w="10160">
            <a:solidFill>
              <a:srgbClr val="00A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746504" y="2999232"/>
            <a:ext cx="91440" cy="420624"/>
          </a:xfrm>
          <a:prstGeom prst="roundRect">
            <a:avLst>
              <a:gd name="adj" fmla="val 8000"/>
            </a:avLst>
          </a:prstGeom>
          <a:solidFill>
            <a:srgbClr val="006CBE"/>
          </a:solidFill>
          <a:ln w="10160">
            <a:solidFill>
              <a:srgbClr val="00A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986534" y="2843784"/>
            <a:ext cx="91440" cy="576072"/>
          </a:xfrm>
          <a:prstGeom prst="roundRect">
            <a:avLst>
              <a:gd name="adj" fmla="val 8000"/>
            </a:avLst>
          </a:prstGeom>
          <a:solidFill>
            <a:srgbClr val="00A096"/>
          </a:solidFill>
          <a:ln w="10160">
            <a:solidFill>
              <a:srgbClr val="00A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2807208" y="2377440"/>
            <a:ext cx="800100" cy="111556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97B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871216" y="2404872"/>
            <a:ext cx="672084" cy="128016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ctr"/>
            <a:r>
              <a:rPr sz="600" b="1" i="0">
                <a:solidFill>
                  <a:srgbClr val="08345B"/>
                </a:solidFill>
                <a:latin typeface="Aptos"/>
              </a:rPr>
              <a:t>Requests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71216" y="2551176"/>
            <a:ext cx="672084" cy="237744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ctr"/>
            <a:r>
              <a:rPr sz="1300" b="1" i="0">
                <a:solidFill>
                  <a:srgbClr val="006CBE"/>
                </a:solidFill>
                <a:latin typeface="Aptos"/>
              </a:rPr>
              <a:t>12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71216" y="2798064"/>
            <a:ext cx="672084" cy="137160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ctr"/>
            <a:r>
              <a:rPr sz="550" b="0" i="0">
                <a:solidFill>
                  <a:srgbClr val="5B7D97"/>
                </a:solidFill>
                <a:latin typeface="Aptos"/>
              </a:rPr>
              <a:t>Pending</a:t>
            </a:r>
          </a:p>
        </p:txBody>
      </p:sp>
      <p:sp>
        <p:nvSpPr>
          <p:cNvPr id="33" name="Oval 32"/>
          <p:cNvSpPr/>
          <p:nvPr/>
        </p:nvSpPr>
        <p:spPr>
          <a:xfrm>
            <a:off x="585216" y="3840480"/>
            <a:ext cx="64008" cy="64008"/>
          </a:xfrm>
          <a:prstGeom prst="ellipse">
            <a:avLst/>
          </a:prstGeom>
          <a:solidFill>
            <a:srgbClr val="006CBE"/>
          </a:solidFill>
          <a:ln>
            <a:solidFill>
              <a:srgbClr val="006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3767328"/>
            <a:ext cx="3054096" cy="365759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860" b="0" i="0">
                <a:solidFill>
                  <a:srgbClr val="204665"/>
                </a:solidFill>
                <a:latin typeface="Aptos"/>
              </a:rPr>
              <a:t>Staff count and present/absent status.</a:t>
            </a:r>
          </a:p>
        </p:txBody>
      </p:sp>
      <p:sp>
        <p:nvSpPr>
          <p:cNvPr id="35" name="Oval 34"/>
          <p:cNvSpPr/>
          <p:nvPr/>
        </p:nvSpPr>
        <p:spPr>
          <a:xfrm>
            <a:off x="585216" y="4224528"/>
            <a:ext cx="64008" cy="64008"/>
          </a:xfrm>
          <a:prstGeom prst="ellipse">
            <a:avLst/>
          </a:prstGeom>
          <a:solidFill>
            <a:srgbClr val="006CBE"/>
          </a:solidFill>
          <a:ln>
            <a:solidFill>
              <a:srgbClr val="006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4151376"/>
            <a:ext cx="3054096" cy="365759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860" b="0" i="0">
                <a:solidFill>
                  <a:srgbClr val="204665"/>
                </a:solidFill>
                <a:latin typeface="Aptos"/>
              </a:rPr>
              <a:t>Leave, overtime, and departments.</a:t>
            </a:r>
          </a:p>
        </p:txBody>
      </p:sp>
      <p:sp>
        <p:nvSpPr>
          <p:cNvPr id="37" name="Oval 36"/>
          <p:cNvSpPr/>
          <p:nvPr/>
        </p:nvSpPr>
        <p:spPr>
          <a:xfrm>
            <a:off x="585216" y="4608576"/>
            <a:ext cx="64008" cy="64008"/>
          </a:xfrm>
          <a:prstGeom prst="ellipse">
            <a:avLst/>
          </a:prstGeom>
          <a:solidFill>
            <a:srgbClr val="006CBE"/>
          </a:solidFill>
          <a:ln>
            <a:solidFill>
              <a:srgbClr val="006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4535424"/>
            <a:ext cx="3054096" cy="365759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860" b="0" i="0">
                <a:solidFill>
                  <a:srgbClr val="204665"/>
                </a:solidFill>
                <a:latin typeface="Aptos"/>
              </a:rPr>
              <a:t>Pending requests.</a:t>
            </a:r>
          </a:p>
        </p:txBody>
      </p:sp>
      <p:sp>
        <p:nvSpPr>
          <p:cNvPr id="39" name="Oval 38"/>
          <p:cNvSpPr/>
          <p:nvPr/>
        </p:nvSpPr>
        <p:spPr>
          <a:xfrm>
            <a:off x="585216" y="4992624"/>
            <a:ext cx="64008" cy="64008"/>
          </a:xfrm>
          <a:prstGeom prst="ellipse">
            <a:avLst/>
          </a:prstGeom>
          <a:solidFill>
            <a:srgbClr val="006CBE"/>
          </a:solidFill>
          <a:ln>
            <a:solidFill>
              <a:srgbClr val="006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4919472"/>
            <a:ext cx="3054096" cy="365759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860" b="0" i="0">
                <a:solidFill>
                  <a:srgbClr val="204665"/>
                </a:solidFill>
                <a:latin typeface="Aptos"/>
              </a:rPr>
              <a:t>Attendance trends.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315968" y="1024128"/>
            <a:ext cx="3566160" cy="4937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97B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4315968" y="1024128"/>
            <a:ext cx="3566160" cy="438912"/>
          </a:xfrm>
          <a:prstGeom prst="roundRect">
            <a:avLst>
              <a:gd name="adj" fmla="val 8000"/>
            </a:avLst>
          </a:prstGeom>
          <a:solidFill>
            <a:srgbClr val="00A096"/>
          </a:solidFill>
          <a:ln w="10160">
            <a:solidFill>
              <a:srgbClr val="00A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425696" y="1051560"/>
            <a:ext cx="3346704" cy="347472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Analytics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498848" y="1618488"/>
            <a:ext cx="3200400" cy="1965960"/>
          </a:xfrm>
          <a:prstGeom prst="roundRect">
            <a:avLst>
              <a:gd name="adj" fmla="val 8000"/>
            </a:avLst>
          </a:prstGeom>
          <a:solidFill>
            <a:srgbClr val="FAFDFF"/>
          </a:solidFill>
          <a:ln w="10160">
            <a:solidFill>
              <a:srgbClr val="C8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4553712" y="1673352"/>
            <a:ext cx="3090672" cy="182880"/>
          </a:xfrm>
          <a:prstGeom prst="roundRect">
            <a:avLst>
              <a:gd name="adj" fmla="val 8000"/>
            </a:avLst>
          </a:prstGeom>
          <a:solidFill>
            <a:srgbClr val="08345B"/>
          </a:solidFill>
          <a:ln w="10160">
            <a:solidFill>
              <a:srgbClr val="083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636008" y="1673352"/>
            <a:ext cx="2926080" cy="182880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l"/>
            <a:r>
              <a:rPr sz="650" b="1" i="0">
                <a:solidFill>
                  <a:srgbClr val="FFFFFF"/>
                </a:solidFill>
                <a:latin typeface="Aptos"/>
              </a:rPr>
              <a:t>Workforce AI   •   Overview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26864" y="1929384"/>
            <a:ext cx="2944368" cy="164592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l"/>
            <a:r>
              <a:rPr sz="700" b="1" i="0">
                <a:solidFill>
                  <a:srgbClr val="08345B"/>
                </a:solidFill>
                <a:latin typeface="Aptos"/>
              </a:rPr>
              <a:t>Workforce trends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681728" y="3081527"/>
            <a:ext cx="118872" cy="320040"/>
          </a:xfrm>
          <a:prstGeom prst="roundRect">
            <a:avLst>
              <a:gd name="adj" fmla="val 8000"/>
            </a:avLst>
          </a:prstGeom>
          <a:solidFill>
            <a:srgbClr val="006CBE"/>
          </a:solidFill>
          <a:ln w="10160">
            <a:solidFill>
              <a:srgbClr val="006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5076226" y="2898648"/>
            <a:ext cx="118872" cy="502920"/>
          </a:xfrm>
          <a:prstGeom prst="roundRect">
            <a:avLst>
              <a:gd name="adj" fmla="val 8000"/>
            </a:avLst>
          </a:prstGeom>
          <a:solidFill>
            <a:srgbClr val="00A096"/>
          </a:solidFill>
          <a:ln w="10160">
            <a:solidFill>
              <a:srgbClr val="00A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5470724" y="3017520"/>
            <a:ext cx="118872" cy="384048"/>
          </a:xfrm>
          <a:prstGeom prst="roundRect">
            <a:avLst>
              <a:gd name="adj" fmla="val 8000"/>
            </a:avLst>
          </a:prstGeom>
          <a:solidFill>
            <a:srgbClr val="664FBF"/>
          </a:solidFill>
          <a:ln w="10160">
            <a:solidFill>
              <a:srgbClr val="664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5865222" y="2743200"/>
            <a:ext cx="118872" cy="658368"/>
          </a:xfrm>
          <a:prstGeom prst="roundRect">
            <a:avLst>
              <a:gd name="adj" fmla="val 8000"/>
            </a:avLst>
          </a:prstGeom>
          <a:solidFill>
            <a:srgbClr val="006CBE"/>
          </a:solidFill>
          <a:ln w="10160">
            <a:solidFill>
              <a:srgbClr val="006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6259721" y="2843784"/>
            <a:ext cx="118872" cy="557784"/>
          </a:xfrm>
          <a:prstGeom prst="roundRect">
            <a:avLst>
              <a:gd name="adj" fmla="val 8000"/>
            </a:avLst>
          </a:prstGeom>
          <a:solidFill>
            <a:srgbClr val="00A096"/>
          </a:solidFill>
          <a:ln w="10160">
            <a:solidFill>
              <a:srgbClr val="00A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6654219" y="2624327"/>
            <a:ext cx="118872" cy="777240"/>
          </a:xfrm>
          <a:prstGeom prst="roundRect">
            <a:avLst>
              <a:gd name="adj" fmla="val 8000"/>
            </a:avLst>
          </a:prstGeom>
          <a:solidFill>
            <a:srgbClr val="664FBF"/>
          </a:solidFill>
          <a:ln w="10160">
            <a:solidFill>
              <a:srgbClr val="664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7048717" y="2788920"/>
            <a:ext cx="118872" cy="612648"/>
          </a:xfrm>
          <a:prstGeom prst="roundRect">
            <a:avLst>
              <a:gd name="adj" fmla="val 8000"/>
            </a:avLst>
          </a:prstGeom>
          <a:solidFill>
            <a:srgbClr val="006CBE"/>
          </a:solidFill>
          <a:ln w="10160">
            <a:solidFill>
              <a:srgbClr val="006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5" name="Connector 54"/>
          <p:cNvCxnSpPr/>
          <p:nvPr/>
        </p:nvCxnSpPr>
        <p:spPr>
          <a:xfrm>
            <a:off x="4617720" y="3401568"/>
            <a:ext cx="2971800" cy="0"/>
          </a:xfrm>
          <a:prstGeom prst="line">
            <a:avLst/>
          </a:prstGeom>
          <a:ln w="7620">
            <a:solidFill>
              <a:srgbClr val="97BE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Oval 55"/>
          <p:cNvSpPr/>
          <p:nvPr/>
        </p:nvSpPr>
        <p:spPr>
          <a:xfrm>
            <a:off x="4517136" y="3840480"/>
            <a:ext cx="64008" cy="64008"/>
          </a:xfrm>
          <a:prstGeom prst="ellipse">
            <a:avLst/>
          </a:prstGeom>
          <a:solidFill>
            <a:srgbClr val="00A096"/>
          </a:solidFill>
          <a:ln>
            <a:solidFill>
              <a:srgbClr val="00A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663440" y="3767328"/>
            <a:ext cx="3054096" cy="46634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860" b="0" i="0">
                <a:solidFill>
                  <a:srgbClr val="204665"/>
                </a:solidFill>
                <a:latin typeface="Aptos"/>
              </a:rPr>
              <a:t>Charts and summaries.</a:t>
            </a:r>
          </a:p>
        </p:txBody>
      </p:sp>
      <p:sp>
        <p:nvSpPr>
          <p:cNvPr id="58" name="Oval 57"/>
          <p:cNvSpPr/>
          <p:nvPr/>
        </p:nvSpPr>
        <p:spPr>
          <a:xfrm>
            <a:off x="4517136" y="4325112"/>
            <a:ext cx="64008" cy="64008"/>
          </a:xfrm>
          <a:prstGeom prst="ellipse">
            <a:avLst/>
          </a:prstGeom>
          <a:solidFill>
            <a:srgbClr val="00A096"/>
          </a:solidFill>
          <a:ln>
            <a:solidFill>
              <a:srgbClr val="00A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663440" y="4251960"/>
            <a:ext cx="3054096" cy="46634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860" b="0" i="0">
                <a:solidFill>
                  <a:srgbClr val="204665"/>
                </a:solidFill>
                <a:latin typeface="Aptos"/>
              </a:rPr>
              <a:t>Workforce patterns.</a:t>
            </a:r>
          </a:p>
        </p:txBody>
      </p:sp>
      <p:sp>
        <p:nvSpPr>
          <p:cNvPr id="60" name="Oval 59"/>
          <p:cNvSpPr/>
          <p:nvPr/>
        </p:nvSpPr>
        <p:spPr>
          <a:xfrm>
            <a:off x="4517136" y="4809744"/>
            <a:ext cx="64008" cy="64008"/>
          </a:xfrm>
          <a:prstGeom prst="ellipse">
            <a:avLst/>
          </a:prstGeom>
          <a:solidFill>
            <a:srgbClr val="00A096"/>
          </a:solidFill>
          <a:ln>
            <a:solidFill>
              <a:srgbClr val="00A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663440" y="4736592"/>
            <a:ext cx="3054096" cy="46634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860" b="0" i="0">
                <a:solidFill>
                  <a:srgbClr val="204665"/>
                </a:solidFill>
                <a:latin typeface="Aptos"/>
              </a:rPr>
              <a:t>Department-wise views.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247888" y="1024128"/>
            <a:ext cx="3566160" cy="4937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97B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8247888" y="1024128"/>
            <a:ext cx="3566160" cy="438912"/>
          </a:xfrm>
          <a:prstGeom prst="roundRect">
            <a:avLst>
              <a:gd name="adj" fmla="val 8000"/>
            </a:avLst>
          </a:prstGeom>
          <a:solidFill>
            <a:srgbClr val="664FBF"/>
          </a:solidFill>
          <a:ln w="10160">
            <a:solidFill>
              <a:srgbClr val="664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357615" y="1051560"/>
            <a:ext cx="3346704" cy="347472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AI Assistant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430767" y="1618488"/>
            <a:ext cx="3200400" cy="1965960"/>
          </a:xfrm>
          <a:prstGeom prst="roundRect">
            <a:avLst>
              <a:gd name="adj" fmla="val 8000"/>
            </a:avLst>
          </a:prstGeom>
          <a:solidFill>
            <a:srgbClr val="FAFDFF"/>
          </a:solidFill>
          <a:ln w="10160">
            <a:solidFill>
              <a:srgbClr val="C8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8485632" y="1673352"/>
            <a:ext cx="3090672" cy="182880"/>
          </a:xfrm>
          <a:prstGeom prst="roundRect">
            <a:avLst>
              <a:gd name="adj" fmla="val 8000"/>
            </a:avLst>
          </a:prstGeom>
          <a:solidFill>
            <a:srgbClr val="08345B"/>
          </a:solidFill>
          <a:ln w="10160">
            <a:solidFill>
              <a:srgbClr val="083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567928" y="1673352"/>
            <a:ext cx="2926080" cy="182880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l"/>
            <a:r>
              <a:rPr sz="650" b="1" i="0">
                <a:solidFill>
                  <a:srgbClr val="FFFFFF"/>
                </a:solidFill>
                <a:latin typeface="Aptos"/>
              </a:rPr>
              <a:t>Workforce AI   •   Overview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8522207" y="1938528"/>
            <a:ext cx="301752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97B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613647" y="1975104"/>
            <a:ext cx="2834640" cy="164592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l"/>
            <a:r>
              <a:rPr sz="700" b="1" i="0">
                <a:solidFill>
                  <a:srgbClr val="08345B"/>
                </a:solidFill>
                <a:latin typeface="Aptos"/>
              </a:rPr>
              <a:t>AI Assistant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8613647" y="2240280"/>
            <a:ext cx="2304288" cy="320040"/>
          </a:xfrm>
          <a:prstGeom prst="roundRect">
            <a:avLst>
              <a:gd name="adj" fmla="val 8000"/>
            </a:avLst>
          </a:prstGeom>
          <a:solidFill>
            <a:srgbClr val="E0F2FA"/>
          </a:solidFill>
          <a:ln w="10160">
            <a:solidFill>
              <a:srgbClr val="E0F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659367" y="2258568"/>
            <a:ext cx="2112264" cy="274320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l"/>
            <a:r>
              <a:rPr sz="580" b="0" i="0">
                <a:solidFill>
                  <a:srgbClr val="204665"/>
                </a:solidFill>
                <a:latin typeface="Aptos"/>
              </a:rPr>
              <a:t>How many team members are on leave?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9326880" y="2642616"/>
            <a:ext cx="1984248" cy="347472"/>
          </a:xfrm>
          <a:prstGeom prst="roundRect">
            <a:avLst>
              <a:gd name="adj" fmla="val 8000"/>
            </a:avLst>
          </a:prstGeom>
          <a:solidFill>
            <a:srgbClr val="DEF7F1"/>
          </a:solidFill>
          <a:ln w="10160">
            <a:solidFill>
              <a:srgbClr val="DEF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454896" y="2660904"/>
            <a:ext cx="1728216" cy="292608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l"/>
            <a:r>
              <a:rPr sz="570" b="0" i="0">
                <a:solidFill>
                  <a:srgbClr val="204665"/>
                </a:solidFill>
                <a:latin typeface="Aptos"/>
              </a:rPr>
              <a:t>17 employees are marked on leave today.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8613647" y="3282696"/>
            <a:ext cx="2834640" cy="164592"/>
          </a:xfrm>
          <a:prstGeom prst="roundRect">
            <a:avLst>
              <a:gd name="adj" fmla="val 8000"/>
            </a:avLst>
          </a:prstGeom>
          <a:solidFill>
            <a:srgbClr val="F8FCFF"/>
          </a:solidFill>
          <a:ln w="10160">
            <a:solidFill>
              <a:srgbClr val="97B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686799" y="3282696"/>
            <a:ext cx="2688336" cy="164592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l"/>
            <a:r>
              <a:rPr sz="550" b="0" i="0">
                <a:solidFill>
                  <a:srgbClr val="5B7D97"/>
                </a:solidFill>
                <a:latin typeface="Aptos"/>
              </a:rPr>
              <a:t>Ask a workforce question…</a:t>
            </a:r>
          </a:p>
        </p:txBody>
      </p:sp>
      <p:sp>
        <p:nvSpPr>
          <p:cNvPr id="76" name="Oval 75"/>
          <p:cNvSpPr/>
          <p:nvPr/>
        </p:nvSpPr>
        <p:spPr>
          <a:xfrm>
            <a:off x="8449056" y="3840480"/>
            <a:ext cx="64008" cy="64008"/>
          </a:xfrm>
          <a:prstGeom prst="ellipse">
            <a:avLst/>
          </a:prstGeom>
          <a:solidFill>
            <a:srgbClr val="664FBF"/>
          </a:solidFill>
          <a:ln>
            <a:solidFill>
              <a:srgbClr val="664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595360" y="3767328"/>
            <a:ext cx="3054096" cy="46634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860" b="0" i="0">
                <a:solidFill>
                  <a:srgbClr val="204665"/>
                </a:solidFill>
                <a:latin typeface="Aptos"/>
              </a:rPr>
              <a:t>Natural-language questions.</a:t>
            </a:r>
          </a:p>
        </p:txBody>
      </p:sp>
      <p:sp>
        <p:nvSpPr>
          <p:cNvPr id="78" name="Oval 77"/>
          <p:cNvSpPr/>
          <p:nvPr/>
        </p:nvSpPr>
        <p:spPr>
          <a:xfrm>
            <a:off x="8449056" y="4325112"/>
            <a:ext cx="64008" cy="64008"/>
          </a:xfrm>
          <a:prstGeom prst="ellipse">
            <a:avLst/>
          </a:prstGeom>
          <a:solidFill>
            <a:srgbClr val="664FBF"/>
          </a:solidFill>
          <a:ln>
            <a:solidFill>
              <a:srgbClr val="664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595360" y="4251960"/>
            <a:ext cx="3054096" cy="46634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860" b="0" i="0">
                <a:solidFill>
                  <a:srgbClr val="204665"/>
                </a:solidFill>
                <a:latin typeface="Aptos"/>
              </a:rPr>
              <a:t>Database assistant, where implemented.</a:t>
            </a:r>
          </a:p>
        </p:txBody>
      </p:sp>
      <p:sp>
        <p:nvSpPr>
          <p:cNvPr id="80" name="Oval 79"/>
          <p:cNvSpPr/>
          <p:nvPr/>
        </p:nvSpPr>
        <p:spPr>
          <a:xfrm>
            <a:off x="8449056" y="4809744"/>
            <a:ext cx="64008" cy="64008"/>
          </a:xfrm>
          <a:prstGeom prst="ellipse">
            <a:avLst/>
          </a:prstGeom>
          <a:solidFill>
            <a:srgbClr val="664FBF"/>
          </a:solidFill>
          <a:ln>
            <a:solidFill>
              <a:srgbClr val="664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595360" y="4736592"/>
            <a:ext cx="3054096" cy="46634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860" b="0" i="0">
                <a:solidFill>
                  <a:srgbClr val="204665"/>
                </a:solidFill>
                <a:latin typeface="Aptos"/>
              </a:rPr>
              <a:t>Workforce insights.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438912" y="6126480"/>
            <a:ext cx="11292840" cy="438912"/>
          </a:xfrm>
          <a:prstGeom prst="roundRect">
            <a:avLst>
              <a:gd name="adj" fmla="val 8000"/>
            </a:avLst>
          </a:prstGeom>
          <a:solidFill>
            <a:srgbClr val="E0F2FA"/>
          </a:solidFill>
          <a:ln w="10160">
            <a:solidFill>
              <a:srgbClr val="E0F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914400" y="6181344"/>
            <a:ext cx="310896" cy="310896"/>
          </a:xfrm>
          <a:prstGeom prst="ellipse">
            <a:avLst/>
          </a:prstGeom>
          <a:solidFill>
            <a:srgbClr val="006CBE"/>
          </a:solidFill>
          <a:ln>
            <a:solidFill>
              <a:srgbClr val="006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914400" y="6185916"/>
            <a:ext cx="310896" cy="301752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▦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353312" y="6153912"/>
            <a:ext cx="2514600" cy="347472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l"/>
            <a:r>
              <a:rPr sz="830" b="1" i="0">
                <a:solidFill>
                  <a:srgbClr val="08345B"/>
                </a:solidFill>
                <a:latin typeface="Aptos"/>
              </a:rPr>
              <a:t>Data Displayed
(Dashboard)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886200" y="6172200"/>
            <a:ext cx="502920" cy="310896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ctr"/>
            <a:r>
              <a:rPr sz="1700" b="1" i="0">
                <a:solidFill>
                  <a:srgbClr val="006CBE"/>
                </a:solidFill>
                <a:latin typeface="Aptos"/>
              </a:rPr>
              <a:t>⟶</a:t>
            </a:r>
          </a:p>
        </p:txBody>
      </p:sp>
      <p:sp>
        <p:nvSpPr>
          <p:cNvPr id="87" name="Oval 86"/>
          <p:cNvSpPr/>
          <p:nvPr/>
        </p:nvSpPr>
        <p:spPr>
          <a:xfrm>
            <a:off x="4754880" y="6181344"/>
            <a:ext cx="310896" cy="310896"/>
          </a:xfrm>
          <a:prstGeom prst="ellipse">
            <a:avLst/>
          </a:prstGeom>
          <a:solidFill>
            <a:srgbClr val="00A096"/>
          </a:solidFill>
          <a:ln>
            <a:solidFill>
              <a:srgbClr val="006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754880" y="6185916"/>
            <a:ext cx="310896" cy="301752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⌁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193792" y="6153912"/>
            <a:ext cx="2514600" cy="347472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l"/>
            <a:r>
              <a:rPr sz="830" b="1" i="0">
                <a:solidFill>
                  <a:srgbClr val="08345B"/>
                </a:solidFill>
                <a:latin typeface="Aptos"/>
              </a:rPr>
              <a:t>Data Analyzed
(Analytics)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726679" y="6172200"/>
            <a:ext cx="502920" cy="310896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ctr"/>
            <a:r>
              <a:rPr sz="1700" b="1" i="0">
                <a:solidFill>
                  <a:srgbClr val="006CBE"/>
                </a:solidFill>
                <a:latin typeface="Aptos"/>
              </a:rPr>
              <a:t>⟶</a:t>
            </a:r>
          </a:p>
        </p:txBody>
      </p:sp>
      <p:sp>
        <p:nvSpPr>
          <p:cNvPr id="91" name="Oval 90"/>
          <p:cNvSpPr/>
          <p:nvPr/>
        </p:nvSpPr>
        <p:spPr>
          <a:xfrm>
            <a:off x="8595360" y="6181344"/>
            <a:ext cx="310896" cy="310896"/>
          </a:xfrm>
          <a:prstGeom prst="ellipse">
            <a:avLst/>
          </a:prstGeom>
          <a:solidFill>
            <a:srgbClr val="664FBF"/>
          </a:solidFill>
          <a:ln>
            <a:solidFill>
              <a:srgbClr val="006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8595360" y="6185916"/>
            <a:ext cx="310896" cy="301752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✧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9034272" y="6153912"/>
            <a:ext cx="2514600" cy="347472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l"/>
            <a:r>
              <a:rPr sz="830" b="1" i="0">
                <a:solidFill>
                  <a:srgbClr val="08345B"/>
                </a:solidFill>
                <a:latin typeface="Aptos"/>
              </a:rPr>
              <a:t>AI-Assisted Responses
(AI Assistant)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109728"/>
            <a:ext cx="10881360" cy="347472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l"/>
            <a:r>
              <a:rPr sz="2000" b="1" i="0">
                <a:solidFill>
                  <a:srgbClr val="08345B"/>
                </a:solidFill>
                <a:latin typeface="Aptos"/>
              </a:rPr>
              <a:t>High-Level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66344"/>
            <a:ext cx="10972800" cy="256032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l"/>
            <a:r>
              <a:rPr sz="950" b="0" i="0">
                <a:solidFill>
                  <a:srgbClr val="5B7D97"/>
                </a:solidFill>
                <a:latin typeface="Aptos"/>
              </a:rPr>
              <a:t>A secure, modular and scalable architecture.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31168" y="109728"/>
            <a:ext cx="256032" cy="201168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r"/>
            <a:r>
              <a:rPr sz="800" b="1" i="0">
                <a:solidFill>
                  <a:srgbClr val="08345B"/>
                </a:solidFill>
                <a:latin typeface="Aptos"/>
              </a:rPr>
              <a:t>8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28600" y="786384"/>
            <a:ext cx="11731752" cy="0"/>
          </a:xfrm>
          <a:prstGeom prst="line">
            <a:avLst/>
          </a:prstGeom>
          <a:ln w="10160">
            <a:solidFill>
              <a:srgbClr val="97BE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84048" y="1024128"/>
            <a:ext cx="7315200" cy="5440680"/>
          </a:xfrm>
          <a:prstGeom prst="roundRect">
            <a:avLst>
              <a:gd name="adj" fmla="val 8000"/>
            </a:avLst>
          </a:prstGeom>
          <a:solidFill>
            <a:srgbClr val="F8FCFF"/>
          </a:solidFill>
          <a:ln w="10160">
            <a:solidFill>
              <a:srgbClr val="E2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87552" y="1188720"/>
            <a:ext cx="384048" cy="384048"/>
          </a:xfrm>
          <a:prstGeom prst="ellipse">
            <a:avLst/>
          </a:prstGeom>
          <a:solidFill>
            <a:srgbClr val="006CBE"/>
          </a:solidFill>
          <a:ln>
            <a:solidFill>
              <a:srgbClr val="006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1193292"/>
            <a:ext cx="384048" cy="374904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"/>
              </a:rPr>
              <a:t>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581912"/>
            <a:ext cx="731520" cy="228600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ctr"/>
            <a:r>
              <a:rPr sz="880" b="1" i="0">
                <a:solidFill>
                  <a:srgbClr val="08345B"/>
                </a:solidFill>
                <a:latin typeface="Aptos"/>
              </a:rPr>
              <a:t>HR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179576" y="1810512"/>
            <a:ext cx="0" cy="182880"/>
          </a:xfrm>
          <a:prstGeom prst="line">
            <a:avLst/>
          </a:prstGeom>
          <a:ln w="13970">
            <a:solidFill>
              <a:srgbClr val="97BE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3108960" y="1188720"/>
            <a:ext cx="384048" cy="384048"/>
          </a:xfrm>
          <a:prstGeom prst="ellipse">
            <a:avLst/>
          </a:prstGeom>
          <a:solidFill>
            <a:srgbClr val="00A096"/>
          </a:solidFill>
          <a:ln>
            <a:solidFill>
              <a:srgbClr val="006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08960" y="1193292"/>
            <a:ext cx="384048" cy="374904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"/>
              </a:rPr>
              <a:t>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44368" y="1581912"/>
            <a:ext cx="731520" cy="228600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ctr"/>
            <a:r>
              <a:rPr sz="880" b="1" i="0">
                <a:solidFill>
                  <a:srgbClr val="08345B"/>
                </a:solidFill>
                <a:latin typeface="Aptos"/>
              </a:rPr>
              <a:t>Manager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300984" y="1810512"/>
            <a:ext cx="0" cy="182880"/>
          </a:xfrm>
          <a:prstGeom prst="line">
            <a:avLst/>
          </a:prstGeom>
          <a:ln w="13970">
            <a:solidFill>
              <a:srgbClr val="97BE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5230368" y="1188720"/>
            <a:ext cx="384048" cy="384048"/>
          </a:xfrm>
          <a:prstGeom prst="ellipse">
            <a:avLst/>
          </a:prstGeom>
          <a:solidFill>
            <a:srgbClr val="08345B"/>
          </a:solidFill>
          <a:ln>
            <a:solidFill>
              <a:srgbClr val="006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30368" y="1193292"/>
            <a:ext cx="384048" cy="374904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"/>
              </a:rPr>
              <a:t>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65776" y="1581912"/>
            <a:ext cx="731520" cy="228600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ctr"/>
            <a:r>
              <a:rPr sz="880" b="1" i="0">
                <a:solidFill>
                  <a:srgbClr val="08345B"/>
                </a:solidFill>
                <a:latin typeface="Aptos"/>
              </a:rPr>
              <a:t>Employee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22392" y="1810512"/>
            <a:ext cx="0" cy="182880"/>
          </a:xfrm>
          <a:prstGeom prst="line">
            <a:avLst/>
          </a:prstGeom>
          <a:ln w="13970">
            <a:solidFill>
              <a:srgbClr val="97BE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41248" y="1993392"/>
            <a:ext cx="6355080" cy="548640"/>
          </a:xfrm>
          <a:prstGeom prst="roundRect">
            <a:avLst>
              <a:gd name="adj" fmla="val 8000"/>
            </a:avLst>
          </a:prstGeom>
          <a:solidFill>
            <a:srgbClr val="006CBE"/>
          </a:solidFill>
          <a:ln w="10160">
            <a:solidFill>
              <a:srgbClr val="006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8" y="2020824"/>
            <a:ext cx="5989320" cy="246888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Role-Specific Web Interface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" y="2267712"/>
            <a:ext cx="5989320" cy="201168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ctr"/>
            <a:r>
              <a:rPr sz="730" b="0" i="0">
                <a:solidFill>
                  <a:srgbClr val="FFFFFF"/>
                </a:solidFill>
                <a:latin typeface="Aptos"/>
              </a:rPr>
              <a:t>React + TypeScript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023360" y="2542032"/>
            <a:ext cx="0" cy="219456"/>
          </a:xfrm>
          <a:prstGeom prst="line">
            <a:avLst/>
          </a:prstGeom>
          <a:ln w="16510">
            <a:solidFill>
              <a:srgbClr val="0834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841248" y="2788920"/>
            <a:ext cx="6355080" cy="548640"/>
          </a:xfrm>
          <a:prstGeom prst="roundRect">
            <a:avLst>
              <a:gd name="adj" fmla="val 8000"/>
            </a:avLst>
          </a:prstGeom>
          <a:solidFill>
            <a:srgbClr val="00A096"/>
          </a:solidFill>
          <a:ln w="10160">
            <a:solidFill>
              <a:srgbClr val="00A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4128" y="2816351"/>
            <a:ext cx="5989320" cy="246888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Backend API &amp; Application Logic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" y="3063239"/>
            <a:ext cx="5989320" cy="201168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ctr"/>
            <a:r>
              <a:rPr sz="730" b="0" i="0">
                <a:solidFill>
                  <a:srgbClr val="FFFFFF"/>
                </a:solidFill>
                <a:latin typeface="Aptos"/>
              </a:rPr>
              <a:t>FastAPI + Python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023360" y="3337560"/>
            <a:ext cx="0" cy="219456"/>
          </a:xfrm>
          <a:prstGeom prst="line">
            <a:avLst/>
          </a:prstGeom>
          <a:ln w="16510">
            <a:solidFill>
              <a:srgbClr val="0834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41248" y="3584448"/>
            <a:ext cx="6355080" cy="548640"/>
          </a:xfrm>
          <a:prstGeom prst="roundRect">
            <a:avLst>
              <a:gd name="adj" fmla="val 8000"/>
            </a:avLst>
          </a:prstGeom>
          <a:solidFill>
            <a:srgbClr val="664FBF"/>
          </a:solidFill>
          <a:ln w="10160">
            <a:solidFill>
              <a:srgbClr val="664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24128" y="3611879"/>
            <a:ext cx="5989320" cy="246888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Authentication &amp; RBAC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4128" y="3858768"/>
            <a:ext cx="5989320" cy="201168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ctr"/>
            <a:r>
              <a:rPr sz="730" b="0" i="0">
                <a:solidFill>
                  <a:srgbClr val="FFFFFF"/>
                </a:solidFill>
                <a:latin typeface="Aptos"/>
              </a:rPr>
              <a:t>JWT-based authentication • Role-based access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023360" y="4133087"/>
            <a:ext cx="0" cy="429768"/>
          </a:xfrm>
          <a:prstGeom prst="line">
            <a:avLst/>
          </a:prstGeom>
          <a:ln w="16510">
            <a:solidFill>
              <a:srgbClr val="0834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841248" y="4590288"/>
            <a:ext cx="6355080" cy="548640"/>
          </a:xfrm>
          <a:prstGeom prst="roundRect">
            <a:avLst>
              <a:gd name="adj" fmla="val 8000"/>
            </a:avLst>
          </a:prstGeom>
          <a:solidFill>
            <a:srgbClr val="008BA6"/>
          </a:solidFill>
          <a:ln w="10160">
            <a:solidFill>
              <a:srgbClr val="008B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4128" y="4617720"/>
            <a:ext cx="5989320" cy="246888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MongoDB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4128" y="4864607"/>
            <a:ext cx="5989320" cy="201168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ctr"/>
            <a:r>
              <a:rPr sz="730" b="0" i="0">
                <a:solidFill>
                  <a:srgbClr val="FFFFFF"/>
                </a:solidFill>
                <a:latin typeface="Aptos"/>
              </a:rPr>
              <a:t>Workforce records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0" y="3456432"/>
            <a:ext cx="1417320" cy="804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4CD3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998464" y="3529584"/>
            <a:ext cx="310896" cy="310896"/>
          </a:xfrm>
          <a:prstGeom prst="ellipse">
            <a:avLst/>
          </a:prstGeom>
          <a:solidFill>
            <a:srgbClr val="664FBF"/>
          </a:solidFill>
          <a:ln>
            <a:solidFill>
              <a:srgbClr val="006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98464" y="3534156"/>
            <a:ext cx="310896" cy="301752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✧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59552" y="3867912"/>
            <a:ext cx="1280160" cy="164592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ctr"/>
            <a:r>
              <a:rPr sz="710" b="1" i="0">
                <a:solidFill>
                  <a:srgbClr val="08345B"/>
                </a:solidFill>
                <a:latin typeface="Aptos"/>
              </a:rPr>
              <a:t>AI Assistant</a:t>
            </a:r>
          </a:p>
        </p:txBody>
      </p:sp>
      <p:cxnSp>
        <p:nvCxnSpPr>
          <p:cNvPr id="38" name="Connector 37"/>
          <p:cNvCxnSpPr/>
          <p:nvPr/>
        </p:nvCxnSpPr>
        <p:spPr>
          <a:xfrm flipH="1">
            <a:off x="5257800" y="3840480"/>
            <a:ext cx="228600" cy="0"/>
          </a:xfrm>
          <a:prstGeom prst="line">
            <a:avLst/>
          </a:prstGeom>
          <a:ln w="12700">
            <a:solidFill>
              <a:srgbClr val="664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973568" y="1024128"/>
            <a:ext cx="3794760" cy="5440680"/>
          </a:xfrm>
          <a:prstGeom prst="roundRect">
            <a:avLst>
              <a:gd name="adj" fmla="val 8000"/>
            </a:avLst>
          </a:prstGeom>
          <a:solidFill>
            <a:srgbClr val="EFF8FD"/>
          </a:solidFill>
          <a:ln w="10160">
            <a:solidFill>
              <a:srgbClr val="EFF8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9600" y="1261872"/>
            <a:ext cx="3246120" cy="384048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l"/>
            <a:r>
              <a:rPr sz="1400" b="1" i="0">
                <a:solidFill>
                  <a:srgbClr val="08345B"/>
                </a:solidFill>
                <a:latin typeface="Aptos"/>
              </a:rPr>
              <a:t>Key Tech Stack</a:t>
            </a:r>
          </a:p>
        </p:txBody>
      </p:sp>
      <p:sp>
        <p:nvSpPr>
          <p:cNvPr id="41" name="Oval 40"/>
          <p:cNvSpPr/>
          <p:nvPr/>
        </p:nvSpPr>
        <p:spPr>
          <a:xfrm>
            <a:off x="8247888" y="1938528"/>
            <a:ext cx="365760" cy="365760"/>
          </a:xfrm>
          <a:prstGeom prst="ellipse">
            <a:avLst/>
          </a:prstGeom>
          <a:solidFill>
            <a:srgbClr val="006CBE"/>
          </a:solidFill>
          <a:ln>
            <a:solidFill>
              <a:srgbClr val="006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47888" y="1943100"/>
            <a:ext cx="365760" cy="356616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✥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78240" y="1929384"/>
            <a:ext cx="2468880" cy="228600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l"/>
            <a:r>
              <a:rPr sz="950" b="1" i="0">
                <a:solidFill>
                  <a:srgbClr val="08345B"/>
                </a:solidFill>
                <a:latin typeface="Aptos"/>
              </a:rPr>
              <a:t>Frontend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78240" y="2176272"/>
            <a:ext cx="2606040" cy="274320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l"/>
            <a:r>
              <a:rPr sz="840" b="0" i="0">
                <a:solidFill>
                  <a:srgbClr val="204665"/>
                </a:solidFill>
                <a:latin typeface="Aptos"/>
              </a:rPr>
              <a:t>React + TypeScript</a:t>
            </a:r>
          </a:p>
        </p:txBody>
      </p:sp>
      <p:sp>
        <p:nvSpPr>
          <p:cNvPr id="45" name="Oval 44"/>
          <p:cNvSpPr/>
          <p:nvPr/>
        </p:nvSpPr>
        <p:spPr>
          <a:xfrm>
            <a:off x="8247888" y="2898648"/>
            <a:ext cx="365760" cy="365760"/>
          </a:xfrm>
          <a:prstGeom prst="ellipse">
            <a:avLst/>
          </a:prstGeom>
          <a:solidFill>
            <a:srgbClr val="00A096"/>
          </a:solidFill>
          <a:ln>
            <a:solidFill>
              <a:srgbClr val="006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47888" y="2903220"/>
            <a:ext cx="365760" cy="356616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⚙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778240" y="2889504"/>
            <a:ext cx="2468880" cy="228600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l"/>
            <a:r>
              <a:rPr sz="950" b="1" i="0">
                <a:solidFill>
                  <a:srgbClr val="08345B"/>
                </a:solidFill>
                <a:latin typeface="Aptos"/>
              </a:rPr>
              <a:t>Backend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78240" y="3136391"/>
            <a:ext cx="2606040" cy="274320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l"/>
            <a:r>
              <a:rPr sz="840" b="0" i="0">
                <a:solidFill>
                  <a:srgbClr val="204665"/>
                </a:solidFill>
                <a:latin typeface="Aptos"/>
              </a:rPr>
              <a:t>FastAPI (Python)</a:t>
            </a:r>
          </a:p>
        </p:txBody>
      </p:sp>
      <p:sp>
        <p:nvSpPr>
          <p:cNvPr id="49" name="Oval 48"/>
          <p:cNvSpPr/>
          <p:nvPr/>
        </p:nvSpPr>
        <p:spPr>
          <a:xfrm>
            <a:off x="8247888" y="3858768"/>
            <a:ext cx="365760" cy="365760"/>
          </a:xfrm>
          <a:prstGeom prst="ellipse">
            <a:avLst/>
          </a:prstGeom>
          <a:solidFill>
            <a:srgbClr val="006CBE"/>
          </a:solidFill>
          <a:ln>
            <a:solidFill>
              <a:srgbClr val="006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247888" y="3863340"/>
            <a:ext cx="365760" cy="356616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▤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778240" y="3849624"/>
            <a:ext cx="2468880" cy="228600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l"/>
            <a:r>
              <a:rPr sz="950" b="1" i="0">
                <a:solidFill>
                  <a:srgbClr val="08345B"/>
                </a:solidFill>
                <a:latin typeface="Aptos"/>
              </a:rPr>
              <a:t>Database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778240" y="4096512"/>
            <a:ext cx="2606040" cy="274320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l"/>
            <a:r>
              <a:rPr sz="840" b="0" i="0">
                <a:solidFill>
                  <a:srgbClr val="204665"/>
                </a:solidFill>
                <a:latin typeface="Aptos"/>
              </a:rPr>
              <a:t>MongoDB</a:t>
            </a:r>
          </a:p>
        </p:txBody>
      </p:sp>
      <p:sp>
        <p:nvSpPr>
          <p:cNvPr id="53" name="Oval 52"/>
          <p:cNvSpPr/>
          <p:nvPr/>
        </p:nvSpPr>
        <p:spPr>
          <a:xfrm>
            <a:off x="8247888" y="4818888"/>
            <a:ext cx="365760" cy="365760"/>
          </a:xfrm>
          <a:prstGeom prst="ellipse">
            <a:avLst/>
          </a:prstGeom>
          <a:solidFill>
            <a:srgbClr val="00A096"/>
          </a:solidFill>
          <a:ln>
            <a:solidFill>
              <a:srgbClr val="006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247888" y="4823460"/>
            <a:ext cx="365760" cy="356616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▣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778240" y="4809744"/>
            <a:ext cx="2468880" cy="228600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l"/>
            <a:r>
              <a:rPr sz="950" b="1" i="0">
                <a:solidFill>
                  <a:srgbClr val="08345B"/>
                </a:solidFill>
                <a:latin typeface="Aptos"/>
              </a:rPr>
              <a:t>Security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778240" y="5056632"/>
            <a:ext cx="2606040" cy="274320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l"/>
            <a:r>
              <a:rPr sz="840" b="0" i="0">
                <a:solidFill>
                  <a:srgbClr val="204665"/>
                </a:solidFill>
                <a:latin typeface="Aptos"/>
              </a:rPr>
              <a:t>JWT + Role-Based Access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109728"/>
            <a:ext cx="10881360" cy="347472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l"/>
            <a:r>
              <a:rPr sz="2000" b="1" i="0">
                <a:solidFill>
                  <a:srgbClr val="08345B"/>
                </a:solidFill>
                <a:latin typeface="Aptos"/>
              </a:rPr>
              <a:t>Business Value &amp; 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66344"/>
            <a:ext cx="10972800" cy="256032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l"/>
            <a:r>
              <a:rPr sz="950" b="0" i="0">
                <a:solidFill>
                  <a:srgbClr val="5B7D97"/>
                </a:solidFill>
                <a:latin typeface="Aptos"/>
              </a:rPr>
              <a:t>Delivering value today, with room for more tomorrow.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31168" y="109728"/>
            <a:ext cx="256032" cy="201168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r"/>
            <a:r>
              <a:rPr sz="800" b="1" i="0">
                <a:solidFill>
                  <a:srgbClr val="08345B"/>
                </a:solidFill>
                <a:latin typeface="Aptos"/>
              </a:rPr>
              <a:t>9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28600" y="786384"/>
            <a:ext cx="11731752" cy="0"/>
          </a:xfrm>
          <a:prstGeom prst="line">
            <a:avLst/>
          </a:prstGeom>
          <a:ln w="10160">
            <a:solidFill>
              <a:srgbClr val="97BE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11480" y="1097280"/>
            <a:ext cx="5577840" cy="4526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97B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11480" y="1097280"/>
            <a:ext cx="5577840" cy="502920"/>
          </a:xfrm>
          <a:prstGeom prst="roundRect">
            <a:avLst>
              <a:gd name="adj" fmla="val 8000"/>
            </a:avLst>
          </a:prstGeom>
          <a:solidFill>
            <a:srgbClr val="00A096"/>
          </a:solidFill>
          <a:ln w="10160">
            <a:solidFill>
              <a:srgbClr val="00A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161288"/>
            <a:ext cx="5166360" cy="347472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ptos"/>
              </a:rPr>
              <a:t>Business Value (Current)</a:t>
            </a:r>
          </a:p>
        </p:txBody>
      </p:sp>
      <p:sp>
        <p:nvSpPr>
          <p:cNvPr id="9" name="Oval 8"/>
          <p:cNvSpPr/>
          <p:nvPr/>
        </p:nvSpPr>
        <p:spPr>
          <a:xfrm>
            <a:off x="658368" y="1810512"/>
            <a:ext cx="256032" cy="256032"/>
          </a:xfrm>
          <a:prstGeom prst="ellipse">
            <a:avLst/>
          </a:prstGeom>
          <a:solidFill>
            <a:srgbClr val="009D77"/>
          </a:solidFill>
          <a:ln>
            <a:solidFill>
              <a:srgbClr val="006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815084"/>
            <a:ext cx="256032" cy="246888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" y="1773936"/>
            <a:ext cx="4617720" cy="438912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l"/>
            <a:r>
              <a:rPr sz="940" b="0" i="0">
                <a:solidFill>
                  <a:srgbClr val="204665"/>
                </a:solidFill>
                <a:latin typeface="Aptos"/>
              </a:rPr>
              <a:t>Centralized access to workforce functions.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2514600"/>
            <a:ext cx="256032" cy="256032"/>
          </a:xfrm>
          <a:prstGeom prst="ellipse">
            <a:avLst/>
          </a:prstGeom>
          <a:solidFill>
            <a:srgbClr val="009D77"/>
          </a:solidFill>
          <a:ln>
            <a:solidFill>
              <a:srgbClr val="006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519172"/>
            <a:ext cx="256032" cy="246888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" y="2478024"/>
            <a:ext cx="4617720" cy="438912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l"/>
            <a:r>
              <a:rPr sz="940" b="0" i="0">
                <a:solidFill>
                  <a:srgbClr val="204665"/>
                </a:solidFill>
                <a:latin typeface="Aptos"/>
              </a:rPr>
              <a:t>Organized attendance, leave, and timesheet workflows.</a:t>
            </a:r>
          </a:p>
        </p:txBody>
      </p:sp>
      <p:sp>
        <p:nvSpPr>
          <p:cNvPr id="15" name="Oval 14"/>
          <p:cNvSpPr/>
          <p:nvPr/>
        </p:nvSpPr>
        <p:spPr>
          <a:xfrm>
            <a:off x="658368" y="3218688"/>
            <a:ext cx="256032" cy="256032"/>
          </a:xfrm>
          <a:prstGeom prst="ellipse">
            <a:avLst/>
          </a:prstGeom>
          <a:solidFill>
            <a:srgbClr val="009D77"/>
          </a:solidFill>
          <a:ln>
            <a:solidFill>
              <a:srgbClr val="006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3223260"/>
            <a:ext cx="256032" cy="246888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" y="3182112"/>
            <a:ext cx="4617720" cy="438912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l"/>
            <a:r>
              <a:rPr sz="940" b="0" i="0">
                <a:solidFill>
                  <a:srgbClr val="204665"/>
                </a:solidFill>
                <a:latin typeface="Aptos"/>
              </a:rPr>
              <a:t>Clearer workforce visibility through dashboards.</a:t>
            </a:r>
          </a:p>
        </p:txBody>
      </p:sp>
      <p:sp>
        <p:nvSpPr>
          <p:cNvPr id="18" name="Oval 17"/>
          <p:cNvSpPr/>
          <p:nvPr/>
        </p:nvSpPr>
        <p:spPr>
          <a:xfrm>
            <a:off x="658368" y="3922776"/>
            <a:ext cx="256032" cy="256032"/>
          </a:xfrm>
          <a:prstGeom prst="ellipse">
            <a:avLst/>
          </a:prstGeom>
          <a:solidFill>
            <a:srgbClr val="009D77"/>
          </a:solidFill>
          <a:ln>
            <a:solidFill>
              <a:srgbClr val="006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3927348"/>
            <a:ext cx="256032" cy="246888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" y="3886200"/>
            <a:ext cx="4617720" cy="438912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l"/>
            <a:r>
              <a:rPr sz="940" b="0" i="0">
                <a:solidFill>
                  <a:srgbClr val="204665"/>
                </a:solidFill>
                <a:latin typeface="Aptos"/>
              </a:rPr>
              <a:t>Role-specific access to relevant information.</a:t>
            </a:r>
          </a:p>
        </p:txBody>
      </p:sp>
      <p:sp>
        <p:nvSpPr>
          <p:cNvPr id="21" name="Oval 20"/>
          <p:cNvSpPr/>
          <p:nvPr/>
        </p:nvSpPr>
        <p:spPr>
          <a:xfrm>
            <a:off x="658368" y="4626864"/>
            <a:ext cx="256032" cy="256032"/>
          </a:xfrm>
          <a:prstGeom prst="ellipse">
            <a:avLst/>
          </a:prstGeom>
          <a:solidFill>
            <a:srgbClr val="009D77"/>
          </a:solidFill>
          <a:ln>
            <a:solidFill>
              <a:srgbClr val="006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4631436"/>
            <a:ext cx="256032" cy="246888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704" y="4590288"/>
            <a:ext cx="4617720" cy="438912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l"/>
            <a:r>
              <a:rPr sz="940" b="0" i="0">
                <a:solidFill>
                  <a:srgbClr val="204665"/>
                </a:solidFill>
                <a:latin typeface="Aptos"/>
              </a:rPr>
              <a:t>AI-assisted information access where supported.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99632" y="1097280"/>
            <a:ext cx="5577840" cy="4526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97B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199632" y="1097280"/>
            <a:ext cx="5577840" cy="502920"/>
          </a:xfrm>
          <a:prstGeom prst="roundRect">
            <a:avLst>
              <a:gd name="adj" fmla="val 8000"/>
            </a:avLst>
          </a:prstGeom>
          <a:solidFill>
            <a:srgbClr val="664FBF"/>
          </a:solidFill>
          <a:ln w="10160">
            <a:solidFill>
              <a:srgbClr val="664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19088" y="1161288"/>
            <a:ext cx="5166360" cy="347472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ptos"/>
              </a:rPr>
              <a:t>Future Scope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73952" y="1911096"/>
            <a:ext cx="347472" cy="329184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ctr"/>
            <a:r>
              <a:rPr sz="1900" b="1" i="0">
                <a:solidFill>
                  <a:srgbClr val="664FBF"/>
                </a:solidFill>
                <a:latin typeface="Aptos"/>
              </a:rPr>
              <a:t>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1901952"/>
            <a:ext cx="4526280" cy="475488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l"/>
            <a:r>
              <a:rPr sz="969" b="0" i="0">
                <a:solidFill>
                  <a:srgbClr val="204665"/>
                </a:solidFill>
                <a:latin typeface="Aptos"/>
              </a:rPr>
              <a:t>Further integration with enterprise HR systems.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73952" y="2752344"/>
            <a:ext cx="347472" cy="329184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ctr"/>
            <a:r>
              <a:rPr sz="1900" b="1" i="0">
                <a:solidFill>
                  <a:srgbClr val="664FBF"/>
                </a:solidFill>
                <a:latin typeface="Aptos"/>
              </a:rPr>
              <a:t>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03720" y="2743200"/>
            <a:ext cx="4526280" cy="475488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l"/>
            <a:r>
              <a:rPr sz="969" b="0" i="0">
                <a:solidFill>
                  <a:srgbClr val="204665"/>
                </a:solidFill>
                <a:latin typeface="Aptos"/>
              </a:rPr>
              <a:t>Enhanced workforce reporting.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73952" y="3593592"/>
            <a:ext cx="347472" cy="329184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ctr"/>
            <a:r>
              <a:rPr sz="1900" b="1" i="0">
                <a:solidFill>
                  <a:srgbClr val="664FBF"/>
                </a:solidFill>
                <a:latin typeface="Aptos"/>
              </a:rPr>
              <a:t>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03720" y="3584448"/>
            <a:ext cx="4526280" cy="475488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l"/>
            <a:r>
              <a:rPr sz="969" b="0" i="0">
                <a:solidFill>
                  <a:srgbClr val="204665"/>
                </a:solidFill>
                <a:latin typeface="Aptos"/>
              </a:rPr>
              <a:t>Improved AI-assisted analysis.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73952" y="4434840"/>
            <a:ext cx="347472" cy="329184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ctr"/>
            <a:r>
              <a:rPr sz="1900" b="1" i="0">
                <a:solidFill>
                  <a:srgbClr val="664FBF"/>
                </a:solidFill>
                <a:latin typeface="Aptos"/>
              </a:rPr>
              <a:t>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03720" y="4425696"/>
            <a:ext cx="4526280" cy="475488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l"/>
            <a:r>
              <a:rPr sz="969" b="0" i="0">
                <a:solidFill>
                  <a:srgbClr val="204665"/>
                </a:solidFill>
                <a:latin typeface="Aptos"/>
              </a:rPr>
              <a:t>Additional workflow automation based on business requirements.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11480" y="5870448"/>
            <a:ext cx="11365992" cy="512064"/>
          </a:xfrm>
          <a:prstGeom prst="roundRect">
            <a:avLst>
              <a:gd name="adj" fmla="val 8000"/>
            </a:avLst>
          </a:prstGeom>
          <a:solidFill>
            <a:srgbClr val="08345B"/>
          </a:solidFill>
          <a:ln w="10160">
            <a:solidFill>
              <a:srgbClr val="083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66928" y="5925312"/>
            <a:ext cx="11018520" cy="384048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Key Takeaways     ✧  Centralization     |     ♟  Role-Based Access     |     ▦  Workforce Intelligence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347472"/>
            <a:ext cx="2377440" cy="320040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l"/>
            <a:r>
              <a:rPr sz="1200" b="1" i="0">
                <a:solidFill>
                  <a:srgbClr val="08345B"/>
                </a:solidFill>
                <a:latin typeface="Aptos"/>
              </a:rPr>
              <a:t>✣  Workforce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331720"/>
            <a:ext cx="4754880" cy="658368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l"/>
            <a:r>
              <a:rPr sz="3100" b="1" i="0">
                <a:solidFill>
                  <a:srgbClr val="08345B"/>
                </a:solidFill>
                <a:latin typeface="Aptos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" y="2999232"/>
            <a:ext cx="4389120" cy="384048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l"/>
            <a:r>
              <a:rPr sz="1600" b="1" i="0">
                <a:solidFill>
                  <a:srgbClr val="006CBE"/>
                </a:solidFill>
                <a:latin typeface="Aptos"/>
              </a:rPr>
              <a:t>Questions &amp; Discussion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024128" y="3502152"/>
            <a:ext cx="3227832" cy="0"/>
          </a:xfrm>
          <a:prstGeom prst="line">
            <a:avLst/>
          </a:prstGeom>
          <a:ln w="22860">
            <a:solidFill>
              <a:srgbClr val="4CD3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24128" y="3749039"/>
            <a:ext cx="5212080" cy="320040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l"/>
            <a:r>
              <a:rPr sz="950" b="1" i="0">
                <a:solidFill>
                  <a:srgbClr val="5B7D97"/>
                </a:solidFill>
                <a:latin typeface="Aptos"/>
              </a:rPr>
              <a:t>Workforce AI — AI-Powered Workforce Management System</a:t>
            </a:r>
          </a:p>
        </p:txBody>
      </p:sp>
      <p:sp>
        <p:nvSpPr>
          <p:cNvPr id="7" name="Wave 6"/>
          <p:cNvSpPr/>
          <p:nvPr/>
        </p:nvSpPr>
        <p:spPr>
          <a:xfrm>
            <a:off x="0" y="5650992"/>
            <a:ext cx="12188952" cy="1170432"/>
          </a:xfrm>
          <a:prstGeom prst="wave">
            <a:avLst/>
          </a:prstGeom>
          <a:solidFill>
            <a:srgbClr val="DCF6F8"/>
          </a:solidFill>
          <a:ln>
            <a:solidFill>
              <a:srgbClr val="DC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Wave 7"/>
          <p:cNvSpPr/>
          <p:nvPr/>
        </p:nvSpPr>
        <p:spPr>
          <a:xfrm>
            <a:off x="6217920" y="5760720"/>
            <a:ext cx="5971032" cy="1005840"/>
          </a:xfrm>
          <a:prstGeom prst="wave">
            <a:avLst/>
          </a:prstGeom>
          <a:solidFill>
            <a:srgbClr val="2580B0"/>
          </a:solidFill>
          <a:ln>
            <a:solidFill>
              <a:srgbClr val="258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Wave 8"/>
          <p:cNvSpPr/>
          <p:nvPr/>
        </p:nvSpPr>
        <p:spPr>
          <a:xfrm>
            <a:off x="7315200" y="5833872"/>
            <a:ext cx="4873752" cy="932688"/>
          </a:xfrm>
          <a:prstGeom prst="wave">
            <a:avLst/>
          </a:prstGeom>
          <a:solidFill>
            <a:srgbClr val="009D9B"/>
          </a:solidFill>
          <a:ln>
            <a:solidFill>
              <a:srgbClr val="009D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339327" y="658368"/>
            <a:ext cx="3291840" cy="4526280"/>
          </a:xfrm>
          <a:prstGeom prst="roundRect">
            <a:avLst>
              <a:gd name="adj" fmla="val 8000"/>
            </a:avLst>
          </a:prstGeom>
          <a:solidFill>
            <a:srgbClr val="E7F2F2"/>
          </a:solidFill>
          <a:ln w="10160">
            <a:solidFill>
              <a:srgbClr val="DAE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522208" y="841248"/>
            <a:ext cx="1554480" cy="1965960"/>
          </a:xfrm>
          <a:prstGeom prst="rect">
            <a:avLst/>
          </a:prstGeom>
          <a:solidFill>
            <a:srgbClr val="C7E1EB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9299448" y="841248"/>
            <a:ext cx="0" cy="1965960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522208" y="1828800"/>
            <a:ext cx="1554480" cy="0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0588752" y="2560320"/>
            <a:ext cx="603504" cy="694944"/>
          </a:xfrm>
          <a:prstGeom prst="roundRect">
            <a:avLst>
              <a:gd name="adj" fmla="val 8000"/>
            </a:avLst>
          </a:prstGeom>
          <a:solidFill>
            <a:srgbClr val="CDB292"/>
          </a:solidFill>
          <a:ln w="10160">
            <a:solidFill>
              <a:srgbClr val="CDB2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424160" y="1572768"/>
            <a:ext cx="329184" cy="621792"/>
          </a:xfrm>
          <a:prstGeom prst="ellipse">
            <a:avLst/>
          </a:prstGeom>
          <a:solidFill>
            <a:srgbClr val="36835B"/>
          </a:solidFill>
          <a:ln>
            <a:solidFill>
              <a:srgbClr val="3683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588752" y="1828800"/>
            <a:ext cx="329184" cy="621792"/>
          </a:xfrm>
          <a:prstGeom prst="ellipse">
            <a:avLst/>
          </a:prstGeom>
          <a:solidFill>
            <a:srgbClr val="36835B"/>
          </a:solidFill>
          <a:ln>
            <a:solidFill>
              <a:srgbClr val="3683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753344" y="2084832"/>
            <a:ext cx="329184" cy="621792"/>
          </a:xfrm>
          <a:prstGeom prst="ellipse">
            <a:avLst/>
          </a:prstGeom>
          <a:solidFill>
            <a:srgbClr val="36835B"/>
          </a:solidFill>
          <a:ln>
            <a:solidFill>
              <a:srgbClr val="3683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424160" y="2340864"/>
            <a:ext cx="329184" cy="621792"/>
          </a:xfrm>
          <a:prstGeom prst="ellipse">
            <a:avLst/>
          </a:prstGeom>
          <a:solidFill>
            <a:srgbClr val="36835B"/>
          </a:solidFill>
          <a:ln>
            <a:solidFill>
              <a:srgbClr val="3683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88752" y="2596896"/>
            <a:ext cx="329184" cy="621792"/>
          </a:xfrm>
          <a:prstGeom prst="ellipse">
            <a:avLst/>
          </a:prstGeom>
          <a:solidFill>
            <a:srgbClr val="36835B"/>
          </a:solidFill>
          <a:ln>
            <a:solidFill>
              <a:srgbClr val="3683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339327" y="3822191"/>
            <a:ext cx="3291840" cy="1188720"/>
          </a:xfrm>
          <a:prstGeom prst="rect">
            <a:avLst/>
          </a:prstGeom>
          <a:solidFill>
            <a:srgbClr val="AC8565"/>
          </a:solidFill>
          <a:ln w="10160">
            <a:solidFill>
              <a:srgbClr val="AC8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308592" y="2395728"/>
            <a:ext cx="1828800" cy="1572768"/>
          </a:xfrm>
          <a:prstGeom prst="roundRect">
            <a:avLst>
              <a:gd name="adj" fmla="val 8000"/>
            </a:avLst>
          </a:prstGeom>
          <a:solidFill>
            <a:srgbClr val="2A353F"/>
          </a:solidFill>
          <a:ln w="10160">
            <a:solidFill>
              <a:srgbClr val="2A35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409176" y="2496312"/>
            <a:ext cx="1627632" cy="1353312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473184" y="2560320"/>
            <a:ext cx="1499616" cy="1207008"/>
          </a:xfrm>
          <a:prstGeom prst="roundRect">
            <a:avLst>
              <a:gd name="adj" fmla="val 8000"/>
            </a:avLst>
          </a:prstGeom>
          <a:solidFill>
            <a:srgbClr val="FAFDFF"/>
          </a:solidFill>
          <a:ln w="10160">
            <a:solidFill>
              <a:srgbClr val="C8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528048" y="2615184"/>
            <a:ext cx="1389888" cy="182880"/>
          </a:xfrm>
          <a:prstGeom prst="roundRect">
            <a:avLst>
              <a:gd name="adj" fmla="val 8000"/>
            </a:avLst>
          </a:prstGeom>
          <a:solidFill>
            <a:srgbClr val="08345B"/>
          </a:solidFill>
          <a:ln w="10160">
            <a:solidFill>
              <a:srgbClr val="083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10344" y="2615184"/>
            <a:ext cx="1225295" cy="182880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l"/>
            <a:r>
              <a:rPr sz="650" b="1" i="0">
                <a:solidFill>
                  <a:srgbClr val="FFFFFF"/>
                </a:solidFill>
                <a:latin typeface="Aptos"/>
              </a:rPr>
              <a:t>Workforce AI   •   Overview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2871215"/>
            <a:ext cx="1243584" cy="164592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l"/>
            <a:r>
              <a:rPr sz="700" b="1" i="0">
                <a:solidFill>
                  <a:srgbClr val="08345B"/>
                </a:solidFill>
                <a:latin typeface="Aptos"/>
              </a:rPr>
              <a:t>Workforce trends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656063" y="3264408"/>
            <a:ext cx="118872" cy="320040"/>
          </a:xfrm>
          <a:prstGeom prst="roundRect">
            <a:avLst>
              <a:gd name="adj" fmla="val 8000"/>
            </a:avLst>
          </a:prstGeom>
          <a:solidFill>
            <a:srgbClr val="006CBE"/>
          </a:solidFill>
          <a:ln w="10160">
            <a:solidFill>
              <a:srgbClr val="006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807593" y="3081528"/>
            <a:ext cx="118872" cy="502920"/>
          </a:xfrm>
          <a:prstGeom prst="roundRect">
            <a:avLst>
              <a:gd name="adj" fmla="val 8000"/>
            </a:avLst>
          </a:prstGeom>
          <a:solidFill>
            <a:srgbClr val="00A096"/>
          </a:solidFill>
          <a:ln w="10160">
            <a:solidFill>
              <a:srgbClr val="00A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959122" y="3200400"/>
            <a:ext cx="118872" cy="384048"/>
          </a:xfrm>
          <a:prstGeom prst="roundRect">
            <a:avLst>
              <a:gd name="adj" fmla="val 8000"/>
            </a:avLst>
          </a:prstGeom>
          <a:solidFill>
            <a:srgbClr val="664FBF"/>
          </a:solidFill>
          <a:ln w="10160">
            <a:solidFill>
              <a:srgbClr val="664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0110651" y="2926080"/>
            <a:ext cx="118872" cy="658368"/>
          </a:xfrm>
          <a:prstGeom prst="roundRect">
            <a:avLst>
              <a:gd name="adj" fmla="val 8000"/>
            </a:avLst>
          </a:prstGeom>
          <a:solidFill>
            <a:srgbClr val="006CBE"/>
          </a:solidFill>
          <a:ln w="10160">
            <a:solidFill>
              <a:srgbClr val="006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0262180" y="3026664"/>
            <a:ext cx="118872" cy="557784"/>
          </a:xfrm>
          <a:prstGeom prst="roundRect">
            <a:avLst>
              <a:gd name="adj" fmla="val 8000"/>
            </a:avLst>
          </a:prstGeom>
          <a:solidFill>
            <a:srgbClr val="00A096"/>
          </a:solidFill>
          <a:ln w="10160">
            <a:solidFill>
              <a:srgbClr val="00A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0413709" y="2807208"/>
            <a:ext cx="118872" cy="777240"/>
          </a:xfrm>
          <a:prstGeom prst="roundRect">
            <a:avLst>
              <a:gd name="adj" fmla="val 8000"/>
            </a:avLst>
          </a:prstGeom>
          <a:solidFill>
            <a:srgbClr val="664FBF"/>
          </a:solidFill>
          <a:ln w="10160">
            <a:solidFill>
              <a:srgbClr val="664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0565238" y="2971800"/>
            <a:ext cx="118872" cy="612648"/>
          </a:xfrm>
          <a:prstGeom prst="roundRect">
            <a:avLst>
              <a:gd name="adj" fmla="val 8000"/>
            </a:avLst>
          </a:prstGeom>
          <a:solidFill>
            <a:srgbClr val="006CBE"/>
          </a:solidFill>
          <a:ln w="10160">
            <a:solidFill>
              <a:srgbClr val="006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>
            <a:off x="9592056" y="3584448"/>
            <a:ext cx="1271016" cy="0"/>
          </a:xfrm>
          <a:prstGeom prst="line">
            <a:avLst/>
          </a:prstGeom>
          <a:ln w="7620">
            <a:solidFill>
              <a:srgbClr val="97BE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11658600" y="128016"/>
            <a:ext cx="256032" cy="201168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r"/>
            <a:r>
              <a:rPr sz="800" b="1" i="0">
                <a:solidFill>
                  <a:srgbClr val="08345B"/>
                </a:solidFill>
                <a:latin typeface="Aptos"/>
              </a:rPr>
              <a:t>10</a:t>
            </a:r>
          </a:p>
        </p:txBody>
      </p:sp>
      <p:pic>
        <p:nvPicPr>
          <p:cNvPr id="36" name="Picture 35" descr="workforce_closing_cro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9327" y="658368"/>
            <a:ext cx="3291840" cy="4526280"/>
          </a:xfrm>
          <a:prstGeom prst="rect">
            <a:avLst/>
          </a:prstGeom>
          <a:ln>
            <a:solidFill>
              <a:srgbClr val="D7E6EF"/>
            </a:solidFill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